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handoutMasterIdLst>
    <p:handoutMasterId r:id="rId4"/>
  </p:handoutMasterIdLst>
  <p:sldIdLst>
    <p:sldId id="256" r:id="rId2"/>
  </p:sldIdLst>
  <p:sldSz cx="30175200" cy="34747200"/>
  <p:notesSz cx="7077075" cy="90281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29" autoAdjust="0"/>
  </p:normalViewPr>
  <p:slideViewPr>
    <p:cSldViewPr snapToGrid="0">
      <p:cViewPr>
        <p:scale>
          <a:sx n="25" d="100"/>
          <a:sy n="25" d="100"/>
        </p:scale>
        <p:origin x="1020" y="-12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87A3C8-0EBE-46DC-9727-87DEEE920674}"/>
              </a:ext>
            </a:extLst>
          </p:cNvPr>
          <p:cNvSpPr txBox="1">
            <a:spLocks noGrp="1"/>
          </p:cNvSpPr>
          <p:nvPr>
            <p:ph type="hdr" sz="quarter"/>
          </p:nvPr>
        </p:nvSpPr>
        <p:spPr>
          <a:xfrm>
            <a:off x="0" y="0"/>
            <a:ext cx="3071103" cy="451083"/>
          </a:xfrm>
          <a:prstGeom prst="rect">
            <a:avLst/>
          </a:prstGeom>
          <a:noFill/>
          <a:ln>
            <a:noFill/>
          </a:ln>
        </p:spPr>
        <p:txBody>
          <a:bodyPr vert="horz" wrap="none" lIns="81288" tIns="40644" rIns="81288" bIns="40644" anchorCtr="0" compatLnSpc="0">
            <a:noAutofit/>
          </a:bodyPr>
          <a:lstStyle/>
          <a:p>
            <a:pPr hangingPunct="0">
              <a:defRPr sz="1400"/>
            </a:pPr>
            <a:endParaRPr lang="en-US" sz="1300">
              <a:solidFill>
                <a:srgbClr val="000000"/>
              </a:solidFill>
              <a:latin typeface="Calibri" pitchFamily="34"/>
              <a:ea typeface="Microsoft YaHei" pitchFamily="2"/>
              <a:cs typeface="Lucida Sans" pitchFamily="2"/>
            </a:endParaRPr>
          </a:p>
        </p:txBody>
      </p:sp>
      <p:sp>
        <p:nvSpPr>
          <p:cNvPr id="3" name="Date Placeholder 2">
            <a:extLst>
              <a:ext uri="{FF2B5EF4-FFF2-40B4-BE49-F238E27FC236}">
                <a16:creationId xmlns:a16="http://schemas.microsoft.com/office/drawing/2014/main" id="{C572C9F7-6ACE-4E36-8D88-0B07526FE5A5}"/>
              </a:ext>
            </a:extLst>
          </p:cNvPr>
          <p:cNvSpPr txBox="1">
            <a:spLocks noGrp="1"/>
          </p:cNvSpPr>
          <p:nvPr>
            <p:ph type="dt" sz="quarter" idx="1"/>
          </p:nvPr>
        </p:nvSpPr>
        <p:spPr>
          <a:xfrm>
            <a:off x="4005644" y="0"/>
            <a:ext cx="3071103" cy="451083"/>
          </a:xfrm>
          <a:prstGeom prst="rect">
            <a:avLst/>
          </a:prstGeom>
          <a:noFill/>
          <a:ln>
            <a:noFill/>
          </a:ln>
        </p:spPr>
        <p:txBody>
          <a:bodyPr vert="horz" wrap="none" lIns="81288" tIns="40644" rIns="81288" bIns="40644" anchorCtr="0" compatLnSpc="0">
            <a:noAutofit/>
          </a:bodyPr>
          <a:lstStyle/>
          <a:p>
            <a:pPr algn="r" hangingPunct="0">
              <a:defRPr sz="1400"/>
            </a:pPr>
            <a:endParaRPr lang="en-US" sz="1300">
              <a:solidFill>
                <a:srgbClr val="000000"/>
              </a:solidFill>
              <a:latin typeface="Calibri" pitchFamily="34"/>
              <a:ea typeface="Microsoft YaHei" pitchFamily="2"/>
              <a:cs typeface="Lucida Sans" pitchFamily="2"/>
            </a:endParaRPr>
          </a:p>
        </p:txBody>
      </p:sp>
      <p:sp>
        <p:nvSpPr>
          <p:cNvPr id="4" name="Footer Placeholder 3">
            <a:extLst>
              <a:ext uri="{FF2B5EF4-FFF2-40B4-BE49-F238E27FC236}">
                <a16:creationId xmlns:a16="http://schemas.microsoft.com/office/drawing/2014/main" id="{1D09F746-BD83-4EB9-8909-E2A827545E9E}"/>
              </a:ext>
            </a:extLst>
          </p:cNvPr>
          <p:cNvSpPr txBox="1">
            <a:spLocks noGrp="1"/>
          </p:cNvSpPr>
          <p:nvPr>
            <p:ph type="ftr" sz="quarter" idx="2"/>
          </p:nvPr>
        </p:nvSpPr>
        <p:spPr>
          <a:xfrm>
            <a:off x="0" y="8576707"/>
            <a:ext cx="3071103" cy="451083"/>
          </a:xfrm>
          <a:prstGeom prst="rect">
            <a:avLst/>
          </a:prstGeom>
          <a:noFill/>
          <a:ln>
            <a:noFill/>
          </a:ln>
        </p:spPr>
        <p:txBody>
          <a:bodyPr vert="horz" wrap="none" lIns="81288" tIns="40644" rIns="81288" bIns="40644" anchor="b" anchorCtr="0" compatLnSpc="0">
            <a:noAutofit/>
          </a:bodyPr>
          <a:lstStyle/>
          <a:p>
            <a:pPr hangingPunct="0">
              <a:defRPr sz="1400"/>
            </a:pPr>
            <a:endParaRPr lang="en-US" sz="1300">
              <a:solidFill>
                <a:srgbClr val="000000"/>
              </a:solidFill>
              <a:latin typeface="Calibri" pitchFamily="34"/>
              <a:ea typeface="Microsoft YaHei" pitchFamily="2"/>
              <a:cs typeface="Lucida Sans" pitchFamily="2"/>
            </a:endParaRPr>
          </a:p>
        </p:txBody>
      </p:sp>
      <p:sp>
        <p:nvSpPr>
          <p:cNvPr id="5" name="Slide Number Placeholder 4">
            <a:extLst>
              <a:ext uri="{FF2B5EF4-FFF2-40B4-BE49-F238E27FC236}">
                <a16:creationId xmlns:a16="http://schemas.microsoft.com/office/drawing/2014/main" id="{1F9E1C68-0CC0-4BD7-8877-6236ADD07C28}"/>
              </a:ext>
            </a:extLst>
          </p:cNvPr>
          <p:cNvSpPr txBox="1">
            <a:spLocks noGrp="1"/>
          </p:cNvSpPr>
          <p:nvPr>
            <p:ph type="sldNum" sz="quarter" idx="3"/>
          </p:nvPr>
        </p:nvSpPr>
        <p:spPr>
          <a:xfrm>
            <a:off x="4005644" y="8576707"/>
            <a:ext cx="3071103" cy="451083"/>
          </a:xfrm>
          <a:prstGeom prst="rect">
            <a:avLst/>
          </a:prstGeom>
          <a:noFill/>
          <a:ln>
            <a:noFill/>
          </a:ln>
        </p:spPr>
        <p:txBody>
          <a:bodyPr vert="horz" wrap="none" lIns="81288" tIns="40644" rIns="81288" bIns="40644" anchor="b" anchorCtr="0" compatLnSpc="0">
            <a:noAutofit/>
          </a:bodyPr>
          <a:lstStyle/>
          <a:p>
            <a:pPr algn="r" hangingPunct="0">
              <a:defRPr sz="1400"/>
            </a:pPr>
            <a:fld id="{D3169637-DDA9-4E8B-AA4B-F770D4D60B21}" type="slidenum">
              <a:rPr lang="en-US" sz="1300">
                <a:solidFill>
                  <a:srgbClr val="000000"/>
                </a:solidFill>
                <a:latin typeface="Calibri" pitchFamily="34"/>
                <a:ea typeface="Microsoft YaHei" pitchFamily="2"/>
                <a:cs typeface="Lucida Sans" pitchFamily="2"/>
              </a:rPr>
              <a:pPr algn="r" hangingPunct="0">
                <a:defRPr sz="1400"/>
              </a:pPr>
              <a:t>‹#›</a:t>
            </a:fld>
            <a:endParaRPr lang="en-US" sz="1300">
              <a:solidFill>
                <a:srgbClr val="000000"/>
              </a:solidFill>
              <a:latin typeface="Calibri" pitchFamily="34"/>
              <a:ea typeface="Microsoft YaHei" pitchFamily="2"/>
              <a:cs typeface="Lucida Sans" pitchFamily="2"/>
            </a:endParaRPr>
          </a:p>
        </p:txBody>
      </p:sp>
    </p:spTree>
    <p:extLst>
      <p:ext uri="{BB962C8B-B14F-4D97-AF65-F5344CB8AC3E}">
        <p14:creationId xmlns:p14="http://schemas.microsoft.com/office/powerpoint/2010/main" val="313704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7A320-D03C-4B71-8FB6-03EB3A69156D}"/>
              </a:ext>
            </a:extLst>
          </p:cNvPr>
          <p:cNvSpPr>
            <a:spLocks noGrp="1" noRot="1" noChangeAspect="1"/>
          </p:cNvSpPr>
          <p:nvPr>
            <p:ph type="sldImg" idx="2"/>
          </p:nvPr>
        </p:nvSpPr>
        <p:spPr>
          <a:xfrm>
            <a:off x="2068513" y="685800"/>
            <a:ext cx="2940050" cy="3384550"/>
          </a:xfrm>
          <a:prstGeom prst="rect">
            <a:avLst/>
          </a:prstGeom>
          <a:noFill/>
          <a:ln>
            <a:noFill/>
            <a:prstDash val="solid"/>
          </a:ln>
        </p:spPr>
      </p:sp>
      <p:sp>
        <p:nvSpPr>
          <p:cNvPr id="3" name="Notes Placeholder 2">
            <a:extLst>
              <a:ext uri="{FF2B5EF4-FFF2-40B4-BE49-F238E27FC236}">
                <a16:creationId xmlns:a16="http://schemas.microsoft.com/office/drawing/2014/main" id="{41DA51C3-A3DC-4DDE-AA80-74E8AA9027FC}"/>
              </a:ext>
            </a:extLst>
          </p:cNvPr>
          <p:cNvSpPr txBox="1">
            <a:spLocks noGrp="1"/>
          </p:cNvSpPr>
          <p:nvPr>
            <p:ph type="body" sz="quarter" idx="3"/>
          </p:nvPr>
        </p:nvSpPr>
        <p:spPr>
          <a:xfrm>
            <a:off x="707707" y="4288192"/>
            <a:ext cx="5661332" cy="4062328"/>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4D3E030D-D341-421E-81CC-7E43CE119C39}"/>
              </a:ext>
            </a:extLst>
          </p:cNvPr>
          <p:cNvSpPr txBox="1">
            <a:spLocks noGrp="1"/>
          </p:cNvSpPr>
          <p:nvPr>
            <p:ph type="hdr" sz="quarter"/>
          </p:nvPr>
        </p:nvSpPr>
        <p:spPr>
          <a:xfrm>
            <a:off x="0" y="0"/>
            <a:ext cx="3071103" cy="451083"/>
          </a:xfrm>
          <a:prstGeom prst="rect">
            <a:avLst/>
          </a:prstGeom>
          <a:noFill/>
          <a:ln>
            <a:noFill/>
          </a:ln>
        </p:spPr>
        <p:txBody>
          <a:bodyPr lIns="0" tIns="0" rIns="0" bIns="0" anchorCtr="0">
            <a:noAutofit/>
          </a:bodyPr>
          <a:lstStyle>
            <a:lvl1pPr lvl="0" rtl="0" hangingPunct="0">
              <a:buNone/>
              <a:tabLst/>
              <a:defRPr lang="en-US" sz="1300" kern="1200">
                <a:latin typeface="Times New Roman" pitchFamily="18"/>
                <a:ea typeface="Lucida Sans Unicode" pitchFamily="2"/>
                <a:cs typeface="Tahoma" pitchFamily="2"/>
              </a:defRPr>
            </a:lvl1pPr>
          </a:lstStyle>
          <a:p>
            <a:pPr lvl="0"/>
            <a:endParaRPr lang="en-US"/>
          </a:p>
        </p:txBody>
      </p:sp>
      <p:sp>
        <p:nvSpPr>
          <p:cNvPr id="5" name="Date Placeholder 4">
            <a:extLst>
              <a:ext uri="{FF2B5EF4-FFF2-40B4-BE49-F238E27FC236}">
                <a16:creationId xmlns:a16="http://schemas.microsoft.com/office/drawing/2014/main" id="{1B3D9C79-CC94-49D8-AF0D-30710006D33E}"/>
              </a:ext>
            </a:extLst>
          </p:cNvPr>
          <p:cNvSpPr txBox="1">
            <a:spLocks noGrp="1"/>
          </p:cNvSpPr>
          <p:nvPr>
            <p:ph type="dt" idx="1"/>
          </p:nvPr>
        </p:nvSpPr>
        <p:spPr>
          <a:xfrm>
            <a:off x="4005644" y="0"/>
            <a:ext cx="3071103" cy="451083"/>
          </a:xfrm>
          <a:prstGeom prst="rect">
            <a:avLst/>
          </a:prstGeom>
          <a:noFill/>
          <a:ln>
            <a:noFill/>
          </a:ln>
        </p:spPr>
        <p:txBody>
          <a:bodyPr lIns="0" tIns="0" rIns="0" bIns="0" anchorCtr="0">
            <a:noAutofit/>
          </a:bodyPr>
          <a:lstStyle>
            <a:lvl1pPr lvl="0" algn="r" rtl="0" hangingPunct="0">
              <a:buNone/>
              <a:tabLst/>
              <a:defRPr lang="en-US" sz="1300" kern="1200">
                <a:latin typeface="Times New Roman" pitchFamily="18"/>
                <a:ea typeface="Lucida Sans Unicode" pitchFamily="2"/>
                <a:cs typeface="Tahoma" pitchFamily="2"/>
              </a:defRPr>
            </a:lvl1pPr>
          </a:lstStyle>
          <a:p>
            <a:pPr lvl="0"/>
            <a:endParaRPr lang="en-US"/>
          </a:p>
        </p:txBody>
      </p:sp>
      <p:sp>
        <p:nvSpPr>
          <p:cNvPr id="6" name="Footer Placeholder 5">
            <a:extLst>
              <a:ext uri="{FF2B5EF4-FFF2-40B4-BE49-F238E27FC236}">
                <a16:creationId xmlns:a16="http://schemas.microsoft.com/office/drawing/2014/main" id="{C0D37A11-9D18-40D7-A465-84DBE2BBE6F8}"/>
              </a:ext>
            </a:extLst>
          </p:cNvPr>
          <p:cNvSpPr txBox="1">
            <a:spLocks noGrp="1"/>
          </p:cNvSpPr>
          <p:nvPr>
            <p:ph type="ftr" sz="quarter" idx="4"/>
          </p:nvPr>
        </p:nvSpPr>
        <p:spPr>
          <a:xfrm>
            <a:off x="0" y="8576707"/>
            <a:ext cx="3071103" cy="451083"/>
          </a:xfrm>
          <a:prstGeom prst="rect">
            <a:avLst/>
          </a:prstGeom>
          <a:noFill/>
          <a:ln>
            <a:noFill/>
          </a:ln>
        </p:spPr>
        <p:txBody>
          <a:bodyPr lIns="0" tIns="0" rIns="0" bIns="0" anchor="b" anchorCtr="0">
            <a:noAutofit/>
          </a:bodyPr>
          <a:lstStyle>
            <a:lvl1pPr lvl="0" rtl="0" hangingPunct="0">
              <a:buNone/>
              <a:tabLst/>
              <a:defRPr lang="en-US" sz="1300" kern="1200">
                <a:latin typeface="Times New Roman" pitchFamily="18"/>
                <a:ea typeface="Lucida Sans Unicode" pitchFamily="2"/>
                <a:cs typeface="Tahoma" pitchFamily="2"/>
              </a:defRPr>
            </a:lvl1pPr>
          </a:lstStyle>
          <a:p>
            <a:pPr lvl="0"/>
            <a:endParaRPr lang="en-US"/>
          </a:p>
        </p:txBody>
      </p:sp>
      <p:sp>
        <p:nvSpPr>
          <p:cNvPr id="7" name="Slide Number Placeholder 6">
            <a:extLst>
              <a:ext uri="{FF2B5EF4-FFF2-40B4-BE49-F238E27FC236}">
                <a16:creationId xmlns:a16="http://schemas.microsoft.com/office/drawing/2014/main" id="{314A54C9-A141-42BC-A01E-39CBAF10BA5A}"/>
              </a:ext>
            </a:extLst>
          </p:cNvPr>
          <p:cNvSpPr txBox="1">
            <a:spLocks noGrp="1"/>
          </p:cNvSpPr>
          <p:nvPr>
            <p:ph type="sldNum" sz="quarter" idx="5"/>
          </p:nvPr>
        </p:nvSpPr>
        <p:spPr>
          <a:xfrm>
            <a:off x="4005644" y="8576707"/>
            <a:ext cx="3071103" cy="451083"/>
          </a:xfrm>
          <a:prstGeom prst="rect">
            <a:avLst/>
          </a:prstGeom>
          <a:noFill/>
          <a:ln>
            <a:noFill/>
          </a:ln>
        </p:spPr>
        <p:txBody>
          <a:bodyPr lIns="0" tIns="0" rIns="0" bIns="0" anchor="b" anchorCtr="0">
            <a:noAutofit/>
          </a:bodyPr>
          <a:lstStyle>
            <a:lvl1pPr lvl="0" algn="r" rtl="0" hangingPunct="0">
              <a:buNone/>
              <a:tabLst/>
              <a:defRPr lang="en-US" sz="1300" kern="1200">
                <a:latin typeface="Times New Roman" pitchFamily="18"/>
                <a:ea typeface="Lucida Sans Unicode" pitchFamily="2"/>
                <a:cs typeface="Tahoma" pitchFamily="2"/>
              </a:defRPr>
            </a:lvl1pPr>
          </a:lstStyle>
          <a:p>
            <a:pPr lvl="0"/>
            <a:fld id="{8EE75006-7ACE-4A13-81A0-6E843E198602}" type="slidenum">
              <a:t>‹#›</a:t>
            </a:fld>
            <a:endParaRPr lang="en-US"/>
          </a:p>
        </p:txBody>
      </p:sp>
    </p:spTree>
    <p:extLst>
      <p:ext uri="{BB962C8B-B14F-4D97-AF65-F5344CB8AC3E}">
        <p14:creationId xmlns:p14="http://schemas.microsoft.com/office/powerpoint/2010/main" val="3644972391"/>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FA8C12C-CC7F-4E88-B949-1E2D9F892FCF}"/>
              </a:ext>
            </a:extLst>
          </p:cNvPr>
          <p:cNvSpPr txBox="1">
            <a:spLocks noGrp="1"/>
          </p:cNvSpPr>
          <p:nvPr>
            <p:ph type="sldNum" sz="quarter" idx="5"/>
          </p:nvPr>
        </p:nvSpPr>
        <p:spPr>
          <a:ln/>
        </p:spPr>
        <p:txBody>
          <a:bodyPr lIns="0" tIns="0" rIns="0" bIns="0" anchor="b" anchorCtr="0">
            <a:noAutofit/>
          </a:bodyPr>
          <a:lstStyle/>
          <a:p>
            <a:pPr lvl="0"/>
            <a:fld id="{16FFD97F-E948-4602-9463-3549EDD01A7F}" type="slidenum">
              <a:t>1</a:t>
            </a:fld>
            <a:endParaRPr lang="en-US"/>
          </a:p>
        </p:txBody>
      </p:sp>
      <p:sp>
        <p:nvSpPr>
          <p:cNvPr id="2" name="Slide Image Placeholder 1">
            <a:extLst>
              <a:ext uri="{FF2B5EF4-FFF2-40B4-BE49-F238E27FC236}">
                <a16:creationId xmlns:a16="http://schemas.microsoft.com/office/drawing/2014/main" id="{BA933065-85A0-42B7-A8BE-8224A79689B5}"/>
              </a:ext>
            </a:extLst>
          </p:cNvPr>
          <p:cNvSpPr>
            <a:spLocks noGrp="1" noRot="1" noChangeAspect="1" noResize="1"/>
          </p:cNvSpPr>
          <p:nvPr>
            <p:ph type="sldImg"/>
          </p:nvPr>
        </p:nvSpPr>
        <p:spPr>
          <a:xfrm>
            <a:off x="2068513" y="685800"/>
            <a:ext cx="2940050" cy="3384550"/>
          </a:xfrm>
          <a:solidFill>
            <a:srgbClr val="CFE7F5"/>
          </a:solidFill>
          <a:ln w="25400">
            <a:solidFill>
              <a:srgbClr val="808080"/>
            </a:solidFill>
            <a:prstDash val="solid"/>
          </a:ln>
        </p:spPr>
      </p:sp>
      <p:sp>
        <p:nvSpPr>
          <p:cNvPr id="3" name="Notes Placeholder 2">
            <a:extLst>
              <a:ext uri="{FF2B5EF4-FFF2-40B4-BE49-F238E27FC236}">
                <a16:creationId xmlns:a16="http://schemas.microsoft.com/office/drawing/2014/main" id="{1216256A-A04A-4BFC-A0F2-BACE8DB1E2CD}"/>
              </a:ext>
            </a:extLst>
          </p:cNvPr>
          <p:cNvSpPr txBox="1">
            <a:spLocks noGrp="1"/>
          </p:cNvSpPr>
          <p:nvPr>
            <p:ph type="body" sz="quarter" idx="1"/>
          </p:nvPr>
        </p:nvSpPr>
        <p:spPr>
          <a:xfrm>
            <a:off x="707707" y="4288192"/>
            <a:ext cx="5661332" cy="307777"/>
          </a:xfrm>
        </p:spPr>
        <p:txBody>
          <a:bodyPr>
            <a:sp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140" y="5686639"/>
            <a:ext cx="25648920" cy="12097173"/>
          </a:xfrm>
        </p:spPr>
        <p:txBody>
          <a:bodyPr anchor="b"/>
          <a:lstStyle>
            <a:lvl1pPr algn="ctr">
              <a:defRPr sz="19800"/>
            </a:lvl1pPr>
          </a:lstStyle>
          <a:p>
            <a:r>
              <a:rPr lang="en-US"/>
              <a:t>Click to edit Master title style</a:t>
            </a:r>
            <a:endParaRPr lang="en-US" dirty="0"/>
          </a:p>
        </p:txBody>
      </p:sp>
      <p:sp>
        <p:nvSpPr>
          <p:cNvPr id="3" name="Subtitle 2"/>
          <p:cNvSpPr>
            <a:spLocks noGrp="1"/>
          </p:cNvSpPr>
          <p:nvPr>
            <p:ph type="subTitle" idx="1"/>
          </p:nvPr>
        </p:nvSpPr>
        <p:spPr>
          <a:xfrm>
            <a:off x="3771900" y="18250326"/>
            <a:ext cx="22631400" cy="8389194"/>
          </a:xfrm>
        </p:spPr>
        <p:txBody>
          <a:bodyPr/>
          <a:lstStyle>
            <a:lvl1pPr marL="0" indent="0" algn="ctr">
              <a:buNone/>
              <a:defRPr sz="7920"/>
            </a:lvl1pPr>
            <a:lvl2pPr marL="1508760" indent="0" algn="ctr">
              <a:buNone/>
              <a:defRPr sz="6600"/>
            </a:lvl2pPr>
            <a:lvl3pPr marL="3017520" indent="0" algn="ctr">
              <a:buNone/>
              <a:defRPr sz="5940"/>
            </a:lvl3pPr>
            <a:lvl4pPr marL="4526280" indent="0" algn="ctr">
              <a:buNone/>
              <a:defRPr sz="5280"/>
            </a:lvl4pPr>
            <a:lvl5pPr marL="6035040" indent="0" algn="ctr">
              <a:buNone/>
              <a:defRPr sz="5280"/>
            </a:lvl5pPr>
            <a:lvl6pPr marL="7543800" indent="0" algn="ctr">
              <a:buNone/>
              <a:defRPr sz="5280"/>
            </a:lvl6pPr>
            <a:lvl7pPr marL="9052560" indent="0" algn="ctr">
              <a:buNone/>
              <a:defRPr sz="5280"/>
            </a:lvl7pPr>
            <a:lvl8pPr marL="10561320" indent="0" algn="ctr">
              <a:buNone/>
              <a:defRPr sz="5280"/>
            </a:lvl8pPr>
            <a:lvl9pPr marL="12070080" indent="0" algn="ctr">
              <a:buNone/>
              <a:defRPr sz="52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24849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61894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8830" y="8662680"/>
            <a:ext cx="26026110" cy="14453867"/>
          </a:xfrm>
        </p:spPr>
        <p:txBody>
          <a:bodyPr anchor="b"/>
          <a:lstStyle>
            <a:lvl1pPr>
              <a:defRPr sz="19800"/>
            </a:lvl1pPr>
          </a:lstStyle>
          <a:p>
            <a:r>
              <a:rPr lang="en-US"/>
              <a:t>Click to edit Master title style</a:t>
            </a:r>
            <a:endParaRPr lang="en-US" dirty="0"/>
          </a:p>
        </p:txBody>
      </p:sp>
      <p:sp>
        <p:nvSpPr>
          <p:cNvPr id="3" name="Text Placeholder 2"/>
          <p:cNvSpPr>
            <a:spLocks noGrp="1"/>
          </p:cNvSpPr>
          <p:nvPr>
            <p:ph type="body" idx="1"/>
          </p:nvPr>
        </p:nvSpPr>
        <p:spPr>
          <a:xfrm>
            <a:off x="2058830" y="23253287"/>
            <a:ext cx="26026110" cy="7600947"/>
          </a:xfrm>
        </p:spPr>
        <p:txBody>
          <a:bodyPr/>
          <a:lstStyle>
            <a:lvl1pPr marL="0" indent="0">
              <a:buNone/>
              <a:defRPr sz="7920">
                <a:solidFill>
                  <a:schemeClr val="tx1"/>
                </a:solidFill>
              </a:defRPr>
            </a:lvl1pPr>
            <a:lvl2pPr marL="1508760" indent="0">
              <a:buNone/>
              <a:defRPr sz="6600">
                <a:solidFill>
                  <a:schemeClr val="tx1">
                    <a:tint val="75000"/>
                  </a:schemeClr>
                </a:solidFill>
              </a:defRPr>
            </a:lvl2pPr>
            <a:lvl3pPr marL="3017520" indent="0">
              <a:buNone/>
              <a:defRPr sz="5940">
                <a:solidFill>
                  <a:schemeClr val="tx1">
                    <a:tint val="75000"/>
                  </a:schemeClr>
                </a:solidFill>
              </a:defRPr>
            </a:lvl3pPr>
            <a:lvl4pPr marL="4526280" indent="0">
              <a:buNone/>
              <a:defRPr sz="5280">
                <a:solidFill>
                  <a:schemeClr val="tx1">
                    <a:tint val="75000"/>
                  </a:schemeClr>
                </a:solidFill>
              </a:defRPr>
            </a:lvl4pPr>
            <a:lvl5pPr marL="6035040" indent="0">
              <a:buNone/>
              <a:defRPr sz="5280">
                <a:solidFill>
                  <a:schemeClr val="tx1">
                    <a:tint val="75000"/>
                  </a:schemeClr>
                </a:solidFill>
              </a:defRPr>
            </a:lvl5pPr>
            <a:lvl6pPr marL="7543800" indent="0">
              <a:buNone/>
              <a:defRPr sz="5280">
                <a:solidFill>
                  <a:schemeClr val="tx1">
                    <a:tint val="75000"/>
                  </a:schemeClr>
                </a:solidFill>
              </a:defRPr>
            </a:lvl6pPr>
            <a:lvl7pPr marL="9052560" indent="0">
              <a:buNone/>
              <a:defRPr sz="5280">
                <a:solidFill>
                  <a:schemeClr val="tx1">
                    <a:tint val="75000"/>
                  </a:schemeClr>
                </a:solidFill>
              </a:defRPr>
            </a:lvl7pPr>
            <a:lvl8pPr marL="10561320" indent="0">
              <a:buNone/>
              <a:defRPr sz="5280">
                <a:solidFill>
                  <a:schemeClr val="tx1">
                    <a:tint val="75000"/>
                  </a:schemeClr>
                </a:solidFill>
              </a:defRPr>
            </a:lvl8pPr>
            <a:lvl9pPr marL="12070080" indent="0">
              <a:buNone/>
              <a:defRPr sz="52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72071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545" y="9249833"/>
            <a:ext cx="12824460" cy="220467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6195" y="9249833"/>
            <a:ext cx="12824460" cy="220467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3/4/2019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55798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475" y="1849974"/>
            <a:ext cx="26026110" cy="671618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479" y="8517893"/>
            <a:ext cx="12765522" cy="417448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a:t>Edit Master text styles</a:t>
            </a:r>
          </a:p>
        </p:txBody>
      </p:sp>
      <p:sp>
        <p:nvSpPr>
          <p:cNvPr id="4" name="Content Placeholder 3"/>
          <p:cNvSpPr>
            <a:spLocks noGrp="1"/>
          </p:cNvSpPr>
          <p:nvPr>
            <p:ph sz="half" idx="2"/>
          </p:nvPr>
        </p:nvSpPr>
        <p:spPr>
          <a:xfrm>
            <a:off x="2078479" y="12692380"/>
            <a:ext cx="12765522" cy="186685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6197" y="8517893"/>
            <a:ext cx="12828390" cy="4174487"/>
          </a:xfrm>
        </p:spPr>
        <p:txBody>
          <a:bodyPr anchor="b"/>
          <a:lstStyle>
            <a:lvl1pPr marL="0" indent="0">
              <a:buNone/>
              <a:defRPr sz="7920" b="1"/>
            </a:lvl1pPr>
            <a:lvl2pPr marL="1508760" indent="0">
              <a:buNone/>
              <a:defRPr sz="6600" b="1"/>
            </a:lvl2pPr>
            <a:lvl3pPr marL="3017520" indent="0">
              <a:buNone/>
              <a:defRPr sz="5940" b="1"/>
            </a:lvl3pPr>
            <a:lvl4pPr marL="4526280" indent="0">
              <a:buNone/>
              <a:defRPr sz="5280" b="1"/>
            </a:lvl4pPr>
            <a:lvl5pPr marL="6035040" indent="0">
              <a:buNone/>
              <a:defRPr sz="5280" b="1"/>
            </a:lvl5pPr>
            <a:lvl6pPr marL="7543800" indent="0">
              <a:buNone/>
              <a:defRPr sz="5280" b="1"/>
            </a:lvl6pPr>
            <a:lvl7pPr marL="9052560" indent="0">
              <a:buNone/>
              <a:defRPr sz="5280" b="1"/>
            </a:lvl7pPr>
            <a:lvl8pPr marL="10561320" indent="0">
              <a:buNone/>
              <a:defRPr sz="5280" b="1"/>
            </a:lvl8pPr>
            <a:lvl9pPr marL="12070080" indent="0">
              <a:buNone/>
              <a:defRPr sz="5280" b="1"/>
            </a:lvl9pPr>
          </a:lstStyle>
          <a:p>
            <a:pPr lvl="0"/>
            <a:r>
              <a:rPr lang="en-US"/>
              <a:t>Edit Master text styles</a:t>
            </a:r>
          </a:p>
        </p:txBody>
      </p:sp>
      <p:sp>
        <p:nvSpPr>
          <p:cNvPr id="6" name="Content Placeholder 5"/>
          <p:cNvSpPr>
            <a:spLocks noGrp="1"/>
          </p:cNvSpPr>
          <p:nvPr>
            <p:ph sz="quarter" idx="4"/>
          </p:nvPr>
        </p:nvSpPr>
        <p:spPr>
          <a:xfrm>
            <a:off x="15276197" y="12692380"/>
            <a:ext cx="12828390" cy="186685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3/4/2019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2287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3/4/2019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5702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3/4/2019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056200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476" y="2316480"/>
            <a:ext cx="9732287" cy="8107680"/>
          </a:xfrm>
        </p:spPr>
        <p:txBody>
          <a:bodyPr anchor="b"/>
          <a:lstStyle>
            <a:lvl1pPr>
              <a:defRPr sz="10560"/>
            </a:lvl1pPr>
          </a:lstStyle>
          <a:p>
            <a:r>
              <a:rPr lang="en-US"/>
              <a:t>Click to edit Master title style</a:t>
            </a:r>
            <a:endParaRPr lang="en-US" dirty="0"/>
          </a:p>
        </p:txBody>
      </p:sp>
      <p:sp>
        <p:nvSpPr>
          <p:cNvPr id="3" name="Content Placeholder 2"/>
          <p:cNvSpPr>
            <a:spLocks noGrp="1"/>
          </p:cNvSpPr>
          <p:nvPr>
            <p:ph idx="1"/>
          </p:nvPr>
        </p:nvSpPr>
        <p:spPr>
          <a:xfrm>
            <a:off x="12828390" y="5002961"/>
            <a:ext cx="15276195" cy="24693033"/>
          </a:xfrm>
        </p:spPr>
        <p:txBody>
          <a:bodyPr/>
          <a:lstStyle>
            <a:lvl1pPr>
              <a:defRPr sz="10560"/>
            </a:lvl1pPr>
            <a:lvl2pPr>
              <a:defRPr sz="9240"/>
            </a:lvl2pPr>
            <a:lvl3pPr>
              <a:defRPr sz="7920"/>
            </a:lvl3pPr>
            <a:lvl4pPr>
              <a:defRPr sz="6600"/>
            </a:lvl4pPr>
            <a:lvl5pPr>
              <a:defRPr sz="6600"/>
            </a:lvl5pPr>
            <a:lvl6pPr>
              <a:defRPr sz="6600"/>
            </a:lvl6pPr>
            <a:lvl7pPr>
              <a:defRPr sz="6600"/>
            </a:lvl7pPr>
            <a:lvl8pPr>
              <a:defRPr sz="6600"/>
            </a:lvl8pPr>
            <a:lvl9pPr>
              <a:defRPr sz="6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476" y="10424160"/>
            <a:ext cx="9732287" cy="19312046"/>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3/4/2019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95150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476" y="2316480"/>
            <a:ext cx="9732287" cy="8107680"/>
          </a:xfrm>
        </p:spPr>
        <p:txBody>
          <a:bodyPr anchor="b"/>
          <a:lstStyle>
            <a:lvl1pPr>
              <a:defRPr sz="105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8390" y="5002961"/>
            <a:ext cx="15276195" cy="24693033"/>
          </a:xfrm>
        </p:spPr>
        <p:txBody>
          <a:bodyPr anchor="t"/>
          <a:lstStyle>
            <a:lvl1pPr marL="0" indent="0">
              <a:buNone/>
              <a:defRPr sz="10560"/>
            </a:lvl1pPr>
            <a:lvl2pPr marL="1508760" indent="0">
              <a:buNone/>
              <a:defRPr sz="9240"/>
            </a:lvl2pPr>
            <a:lvl3pPr marL="3017520" indent="0">
              <a:buNone/>
              <a:defRPr sz="7920"/>
            </a:lvl3pPr>
            <a:lvl4pPr marL="4526280" indent="0">
              <a:buNone/>
              <a:defRPr sz="6600"/>
            </a:lvl4pPr>
            <a:lvl5pPr marL="6035040" indent="0">
              <a:buNone/>
              <a:defRPr sz="6600"/>
            </a:lvl5pPr>
            <a:lvl6pPr marL="7543800" indent="0">
              <a:buNone/>
              <a:defRPr sz="6600"/>
            </a:lvl6pPr>
            <a:lvl7pPr marL="9052560" indent="0">
              <a:buNone/>
              <a:defRPr sz="6600"/>
            </a:lvl7pPr>
            <a:lvl8pPr marL="10561320" indent="0">
              <a:buNone/>
              <a:defRPr sz="6600"/>
            </a:lvl8pPr>
            <a:lvl9pPr marL="12070080" indent="0">
              <a:buNone/>
              <a:defRPr sz="6600"/>
            </a:lvl9pPr>
          </a:lstStyle>
          <a:p>
            <a:r>
              <a:rPr lang="en-US"/>
              <a:t>Click icon to add picture</a:t>
            </a:r>
            <a:endParaRPr lang="en-US" dirty="0"/>
          </a:p>
        </p:txBody>
      </p:sp>
      <p:sp>
        <p:nvSpPr>
          <p:cNvPr id="4" name="Text Placeholder 3"/>
          <p:cNvSpPr>
            <a:spLocks noGrp="1"/>
          </p:cNvSpPr>
          <p:nvPr>
            <p:ph type="body" sz="half" idx="2"/>
          </p:nvPr>
        </p:nvSpPr>
        <p:spPr>
          <a:xfrm>
            <a:off x="2078476" y="10424160"/>
            <a:ext cx="9732287" cy="19312046"/>
          </a:xfrm>
        </p:spPr>
        <p:txBody>
          <a:bodyPr/>
          <a:lstStyle>
            <a:lvl1pPr marL="0" indent="0">
              <a:buNone/>
              <a:defRPr sz="5280"/>
            </a:lvl1pPr>
            <a:lvl2pPr marL="1508760" indent="0">
              <a:buNone/>
              <a:defRPr sz="4620"/>
            </a:lvl2pPr>
            <a:lvl3pPr marL="3017520" indent="0">
              <a:buNone/>
              <a:defRPr sz="3960"/>
            </a:lvl3pPr>
            <a:lvl4pPr marL="4526280" indent="0">
              <a:buNone/>
              <a:defRPr sz="3300"/>
            </a:lvl4pPr>
            <a:lvl5pPr marL="6035040" indent="0">
              <a:buNone/>
              <a:defRPr sz="3300"/>
            </a:lvl5pPr>
            <a:lvl6pPr marL="7543800" indent="0">
              <a:buNone/>
              <a:defRPr sz="3300"/>
            </a:lvl6pPr>
            <a:lvl7pPr marL="9052560" indent="0">
              <a:buNone/>
              <a:defRPr sz="3300"/>
            </a:lvl7pPr>
            <a:lvl8pPr marL="10561320" indent="0">
              <a:buNone/>
              <a:defRPr sz="3300"/>
            </a:lvl8pPr>
            <a:lvl9pPr marL="12070080" indent="0">
              <a:buNone/>
              <a:defRPr sz="33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3/4/2019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5733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4606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4129" y="1849967"/>
            <a:ext cx="6506528" cy="2944664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546" y="1849967"/>
            <a:ext cx="19142393" cy="2944664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3/4/2019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39864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545" y="1849974"/>
            <a:ext cx="26026110" cy="671618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545" y="9249833"/>
            <a:ext cx="26026110" cy="2204677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545" y="32205514"/>
            <a:ext cx="6789420" cy="1849967"/>
          </a:xfrm>
          <a:prstGeom prst="rect">
            <a:avLst/>
          </a:prstGeom>
        </p:spPr>
        <p:txBody>
          <a:bodyPr vert="horz" lIns="91440" tIns="45720" rIns="91440" bIns="45720" rtlCol="0" anchor="ctr"/>
          <a:lstStyle>
            <a:lvl1pPr algn="l">
              <a:defRPr sz="3960">
                <a:solidFill>
                  <a:schemeClr val="tx1">
                    <a:tint val="75000"/>
                  </a:schemeClr>
                </a:solidFill>
              </a:defRPr>
            </a:lvl1pPr>
          </a:lstStyle>
          <a:p>
            <a:fld id="{C764DE79-268F-4C1A-8933-263129D2AF90}" type="datetimeFigureOut">
              <a:rPr lang="en-US" dirty="0"/>
              <a:t>3/4/2019</a:t>
            </a:fld>
            <a:endParaRPr lang="en-US" dirty="0"/>
          </a:p>
        </p:txBody>
      </p:sp>
      <p:sp>
        <p:nvSpPr>
          <p:cNvPr id="5" name="Footer Placeholder 4"/>
          <p:cNvSpPr>
            <a:spLocks noGrp="1"/>
          </p:cNvSpPr>
          <p:nvPr>
            <p:ph type="ftr" sz="quarter" idx="3"/>
          </p:nvPr>
        </p:nvSpPr>
        <p:spPr>
          <a:xfrm>
            <a:off x="9995535" y="32205514"/>
            <a:ext cx="10184130" cy="18499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1311235" y="32205514"/>
            <a:ext cx="6789420" cy="1849967"/>
          </a:xfrm>
          <a:prstGeom prst="rect">
            <a:avLst/>
          </a:prstGeom>
        </p:spPr>
        <p:txBody>
          <a:bodyPr vert="horz" lIns="91440" tIns="45720" rIns="91440" bIns="45720" rtlCol="0" anchor="ctr"/>
          <a:lstStyle>
            <a:lvl1pPr algn="r">
              <a:defRPr sz="396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029686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94" name="Rectangle 93">
            <a:extLst>
              <a:ext uri="{FF2B5EF4-FFF2-40B4-BE49-F238E27FC236}">
                <a16:creationId xmlns:a16="http://schemas.microsoft.com/office/drawing/2014/main" id="{2DB74C12-30A3-45C5-BEE0-72E7C48ABF7D}"/>
              </a:ext>
            </a:extLst>
          </p:cNvPr>
          <p:cNvSpPr/>
          <p:nvPr/>
        </p:nvSpPr>
        <p:spPr>
          <a:xfrm>
            <a:off x="-313" y="30357072"/>
            <a:ext cx="30175200" cy="4394211"/>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A0713C5A-425F-4BB4-9956-453EEDF40755}"/>
              </a:ext>
            </a:extLst>
          </p:cNvPr>
          <p:cNvSpPr/>
          <p:nvPr/>
        </p:nvSpPr>
        <p:spPr>
          <a:xfrm>
            <a:off x="0" y="29426"/>
            <a:ext cx="30175200" cy="584666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Box 190">
            <a:extLst>
              <a:ext uri="{FF2B5EF4-FFF2-40B4-BE49-F238E27FC236}">
                <a16:creationId xmlns:a16="http://schemas.microsoft.com/office/drawing/2014/main" id="{81B345D4-2C23-4CDD-9953-837F4679B932}"/>
              </a:ext>
            </a:extLst>
          </p:cNvPr>
          <p:cNvSpPr/>
          <p:nvPr/>
        </p:nvSpPr>
        <p:spPr>
          <a:xfrm>
            <a:off x="1262080" y="23485462"/>
            <a:ext cx="8663664" cy="662321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vert="horz" wrap="square" lIns="138808" tIns="138808" rIns="138808" bIns="138808" anchor="t" anchorCtr="0" compatLnSpc="0">
            <a:spAutoFit/>
          </a:bodyPr>
          <a:lstStyle/>
          <a:p>
            <a:pPr algn="just" hangingPunct="0"/>
            <a:r>
              <a:rPr lang="en-US" sz="2000" dirty="0">
                <a:solidFill>
                  <a:srgbClr val="000000"/>
                </a:solidFill>
                <a:latin typeface="Calibri" pitchFamily="34"/>
                <a:ea typeface="Microsoft YaHei" pitchFamily="2"/>
                <a:cs typeface="Lucida Sans" pitchFamily="2"/>
              </a:rPr>
              <a:t>We have a set of input patterns </a:t>
            </a:r>
            <a:r>
              <a:rPr lang="en-US" sz="2000" dirty="0">
                <a:solidFill>
                  <a:srgbClr val="000000"/>
                </a:solidFill>
                <a:latin typeface="Cambria Math" pitchFamily="18"/>
                <a:ea typeface="Microsoft YaHei" pitchFamily="2"/>
                <a:cs typeface="Lucida Sans" pitchFamily="2"/>
              </a:rPr>
              <a:t>{</a:t>
            </a:r>
            <a:r>
              <a:rPr lang="en-US" sz="2000" b="1" dirty="0">
                <a:solidFill>
                  <a:srgbClr val="000000"/>
                </a:solidFill>
                <a:latin typeface="Cambria Math" pitchFamily="18"/>
                <a:ea typeface="Microsoft YaHei" pitchFamily="2"/>
                <a:cs typeface="Lucida Sans" pitchFamily="2"/>
              </a:rPr>
              <a:t>x</a:t>
            </a:r>
            <a:r>
              <a:rPr lang="en-US" sz="2000" baseline="30000" dirty="0">
                <a:solidFill>
                  <a:srgbClr val="000000"/>
                </a:solidFill>
                <a:latin typeface="Cambria Math" pitchFamily="18"/>
                <a:ea typeface="Calibri" pitchFamily="34"/>
                <a:cs typeface="Calibri" pitchFamily="34"/>
              </a:rPr>
              <a:t>µ</a:t>
            </a:r>
            <a:r>
              <a:rPr lang="en-US" sz="2000" i="1" baseline="30000" dirty="0">
                <a:solidFill>
                  <a:srgbClr val="000000"/>
                </a:solidFill>
                <a:latin typeface="Cambria Math" pitchFamily="18"/>
                <a:ea typeface="Calibri" pitchFamily="34"/>
                <a:cs typeface="Calibri" pitchFamily="34"/>
              </a:rPr>
              <a:t> </a:t>
            </a:r>
            <a:r>
              <a:rPr lang="en-US" sz="2000" dirty="0">
                <a:solidFill>
                  <a:srgbClr val="000000"/>
                </a:solidFill>
                <a:latin typeface="Cambria Math" pitchFamily="18"/>
                <a:ea typeface="Microsoft YaHei" pitchFamily="2"/>
                <a:cs typeface="Lucida Sans" pitchFamily="2"/>
              </a:rPr>
              <a:t>= [x</a:t>
            </a:r>
            <a:r>
              <a:rPr lang="en-US" sz="2000" baseline="-25000" dirty="0">
                <a:solidFill>
                  <a:srgbClr val="000000"/>
                </a:solidFill>
                <a:latin typeface="Cambria Math" pitchFamily="18"/>
                <a:ea typeface="Microsoft YaHei" pitchFamily="2"/>
                <a:cs typeface="Lucida Sans" pitchFamily="2"/>
              </a:rPr>
              <a:t>1</a:t>
            </a:r>
            <a:r>
              <a:rPr lang="en-US" sz="2000" dirty="0">
                <a:solidFill>
                  <a:srgbClr val="000000"/>
                </a:solidFill>
                <a:latin typeface="Cambria Math" pitchFamily="18"/>
                <a:ea typeface="Microsoft YaHei" pitchFamily="2"/>
                <a:cs typeface="Lucida Sans" pitchFamily="2"/>
              </a:rPr>
              <a:t>...</a:t>
            </a:r>
            <a:r>
              <a:rPr lang="en-US" sz="2000" dirty="0" err="1">
                <a:solidFill>
                  <a:srgbClr val="000000"/>
                </a:solidFill>
                <a:latin typeface="Cambria Math" pitchFamily="18"/>
                <a:ea typeface="Microsoft YaHei" pitchFamily="2"/>
                <a:cs typeface="Lucida Sans" pitchFamily="2"/>
              </a:rPr>
              <a:t>x</a:t>
            </a:r>
            <a:r>
              <a:rPr lang="en-US" sz="2000" baseline="-25000" dirty="0" err="1">
                <a:solidFill>
                  <a:srgbClr val="000000"/>
                </a:solidFill>
                <a:latin typeface="Cambria Math" pitchFamily="18"/>
                <a:ea typeface="Microsoft YaHei" pitchFamily="2"/>
                <a:cs typeface="Lucida Sans" pitchFamily="2"/>
              </a:rPr>
              <a:t>N</a:t>
            </a:r>
            <a:r>
              <a:rPr lang="en-US" sz="2000" dirty="0">
                <a:solidFill>
                  <a:srgbClr val="000000"/>
                </a:solidFill>
                <a:latin typeface="Cambria Math" pitchFamily="18"/>
                <a:ea typeface="Microsoft YaHei" pitchFamily="2"/>
                <a:cs typeface="Lucida Sans" pitchFamily="2"/>
              </a:rPr>
              <a:t>]}, 𝜇 = 1...M</a:t>
            </a:r>
            <a:r>
              <a:rPr lang="en-US" sz="2000" dirty="0">
                <a:solidFill>
                  <a:srgbClr val="000000"/>
                </a:solidFill>
                <a:latin typeface="Calibri" pitchFamily="34"/>
                <a:ea typeface="Microsoft YaHei" pitchFamily="2"/>
                <a:cs typeface="Lucida Sans" pitchFamily="2"/>
              </a:rPr>
              <a:t>. Each pattern is assigned a label </a:t>
            </a:r>
            <a:r>
              <a:rPr lang="en-US" sz="2000" dirty="0">
                <a:solidFill>
                  <a:srgbClr val="000000"/>
                </a:solidFill>
                <a:latin typeface="Cambria Math" pitchFamily="18"/>
                <a:ea typeface="Calibri" pitchFamily="34"/>
                <a:cs typeface="Calibri" pitchFamily="34"/>
              </a:rPr>
              <a:t>y</a:t>
            </a:r>
            <a:r>
              <a:rPr lang="en-US" sz="2000" baseline="30000" dirty="0">
                <a:solidFill>
                  <a:srgbClr val="000000"/>
                </a:solidFill>
                <a:latin typeface="Cambria Math" pitchFamily="18"/>
                <a:ea typeface="Calibri" pitchFamily="34"/>
                <a:cs typeface="Calibri" pitchFamily="34"/>
              </a:rPr>
              <a:t>µ</a:t>
            </a:r>
            <a:r>
              <a:rPr lang="en-US" sz="2000" i="1" baseline="30000" dirty="0">
                <a:solidFill>
                  <a:srgbClr val="000000"/>
                </a:solidFill>
                <a:latin typeface="Cambria Math" pitchFamily="18"/>
                <a:ea typeface="Calibri" pitchFamily="34"/>
                <a:cs typeface="Calibri" pitchFamily="34"/>
              </a:rPr>
              <a:t> </a:t>
            </a:r>
            <a:r>
              <a:rPr lang="en-US" sz="2000" dirty="0">
                <a:solidFill>
                  <a:srgbClr val="000000"/>
                </a:solidFill>
                <a:latin typeface="Cambria Math" pitchFamily="18"/>
                <a:ea typeface="Microsoft YaHei" pitchFamily="2"/>
                <a:cs typeface="Lucida Sans" pitchFamily="2"/>
              </a:rPr>
              <a:t> ∈ {+1,-1}</a:t>
            </a:r>
            <a:r>
              <a:rPr lang="en-US" sz="2000" dirty="0">
                <a:solidFill>
                  <a:srgbClr val="000000"/>
                </a:solidFill>
                <a:latin typeface="Calibri" pitchFamily="34"/>
                <a:ea typeface="Microsoft YaHei" pitchFamily="2"/>
                <a:cs typeface="Lucida Sans" pitchFamily="2"/>
              </a:rPr>
              <a:t> .</a:t>
            </a:r>
          </a:p>
          <a:p>
            <a:pPr algn="just" hangingPunct="0"/>
            <a:endParaRPr lang="en-US" sz="2000" dirty="0">
              <a:solidFill>
                <a:srgbClr val="000000"/>
              </a:solidFill>
              <a:latin typeface="Calibri" pitchFamily="34"/>
              <a:ea typeface="Microsoft YaHei" pitchFamily="2"/>
              <a:cs typeface="Lucida Sans" pitchFamily="2"/>
            </a:endParaRPr>
          </a:p>
          <a:p>
            <a:pPr algn="just" hangingPunct="0"/>
            <a:r>
              <a:rPr lang="en-US" sz="2000" dirty="0">
                <a:solidFill>
                  <a:srgbClr val="000000"/>
                </a:solidFill>
                <a:latin typeface="Calibri" pitchFamily="34"/>
                <a:ea typeface="Microsoft YaHei" pitchFamily="2"/>
                <a:cs typeface="Lucida Sans" pitchFamily="2"/>
              </a:rPr>
              <a:t>The neuron’s response to a given pattern </a:t>
            </a:r>
            <a:r>
              <a:rPr lang="en-US" sz="2000" b="1" dirty="0">
                <a:solidFill>
                  <a:srgbClr val="000000"/>
                </a:solidFill>
                <a:latin typeface="Cambria Math" pitchFamily="18"/>
                <a:ea typeface="Microsoft YaHei" pitchFamily="2"/>
                <a:cs typeface="Lucida Sans" pitchFamily="2"/>
              </a:rPr>
              <a:t>x</a:t>
            </a:r>
            <a:r>
              <a:rPr lang="en-US" sz="2000" baseline="30000" dirty="0">
                <a:solidFill>
                  <a:srgbClr val="000000"/>
                </a:solidFill>
                <a:latin typeface="Cambria Math" pitchFamily="18"/>
                <a:ea typeface="Calibri" pitchFamily="34"/>
                <a:cs typeface="Calibri" pitchFamily="34"/>
              </a:rPr>
              <a:t>µ</a:t>
            </a:r>
            <a:r>
              <a:rPr lang="en-US" sz="2000" baseline="30000" dirty="0">
                <a:solidFill>
                  <a:srgbClr val="000000"/>
                </a:solidFill>
                <a:latin typeface="Calibri" pitchFamily="34"/>
                <a:ea typeface="Calibri" pitchFamily="34"/>
                <a:cs typeface="Calibri" pitchFamily="34"/>
              </a:rPr>
              <a:t> </a:t>
            </a:r>
            <a:r>
              <a:rPr lang="en-US" sz="2000" dirty="0">
                <a:solidFill>
                  <a:srgbClr val="000000"/>
                </a:solidFill>
                <a:latin typeface="Calibri" pitchFamily="34"/>
                <a:ea typeface="Microsoft YaHei" pitchFamily="2"/>
                <a:cs typeface="Lucida Sans" pitchFamily="2"/>
              </a:rPr>
              <a:t>given its current weight vector</a:t>
            </a:r>
            <a:r>
              <a:rPr lang="en-US" sz="2000" dirty="0">
                <a:solidFill>
                  <a:srgbClr val="000000"/>
                </a:solidFill>
                <a:latin typeface="Cambria Math" pitchFamily="18"/>
                <a:ea typeface="Microsoft YaHei" pitchFamily="2"/>
                <a:cs typeface="Lucida Sans" pitchFamily="2"/>
              </a:rPr>
              <a:t>, </a:t>
            </a:r>
            <a:r>
              <a:rPr lang="en-US" sz="2000" b="1" dirty="0">
                <a:solidFill>
                  <a:srgbClr val="000000"/>
                </a:solidFill>
                <a:latin typeface="Cambria Math" pitchFamily="18"/>
                <a:ea typeface="Microsoft YaHei" pitchFamily="2"/>
                <a:cs typeface="Lucida Sans" pitchFamily="2"/>
              </a:rPr>
              <a:t>w</a:t>
            </a:r>
            <a:r>
              <a:rPr lang="en-US" sz="2000" baseline="-33000" dirty="0">
                <a:solidFill>
                  <a:srgbClr val="000000"/>
                </a:solidFill>
                <a:latin typeface="Arial" pitchFamily="34"/>
                <a:ea typeface="Microsoft YaHei" pitchFamily="2"/>
                <a:cs typeface="Lucida Sans" pitchFamily="2"/>
              </a:rPr>
              <a:t> </a:t>
            </a:r>
            <a:r>
              <a:rPr lang="en-US" sz="2000" dirty="0">
                <a:solidFill>
                  <a:srgbClr val="000000"/>
                </a:solidFill>
                <a:latin typeface="Calibri" pitchFamily="34"/>
                <a:ea typeface="Microsoft YaHei" pitchFamily="2"/>
                <a:cs typeface="Lucida Sans" pitchFamily="2"/>
              </a:rPr>
              <a:t>is defined by the formula </a:t>
            </a:r>
            <a:r>
              <a:rPr lang="en-US" sz="2000" dirty="0">
                <a:solidFill>
                  <a:srgbClr val="000000"/>
                </a:solidFill>
                <a:latin typeface="Cambria Math" pitchFamily="18"/>
                <a:ea typeface="Microsoft YaHei" pitchFamily="2"/>
                <a:cs typeface="Lucida Sans" pitchFamily="2"/>
              </a:rPr>
              <a:t>ŷ </a:t>
            </a:r>
            <a:r>
              <a:rPr lang="en-US" sz="2000" dirty="0">
                <a:solidFill>
                  <a:srgbClr val="000000"/>
                </a:solidFill>
                <a:latin typeface="Cambria Math" pitchFamily="18"/>
                <a:ea typeface="Arial" pitchFamily="34"/>
                <a:cs typeface="Arial" pitchFamily="34"/>
              </a:rPr>
              <a:t>= sign(</a:t>
            </a:r>
            <a:r>
              <a:rPr lang="en-US" sz="2000" b="1" dirty="0" err="1">
                <a:solidFill>
                  <a:srgbClr val="000000"/>
                </a:solidFill>
                <a:latin typeface="Cambria Math" pitchFamily="18"/>
                <a:ea typeface="Arial" pitchFamily="34"/>
                <a:cs typeface="Arial" pitchFamily="34"/>
              </a:rPr>
              <a:t>w</a:t>
            </a:r>
            <a:r>
              <a:rPr lang="en-US" sz="2000" baseline="30000" dirty="0" err="1">
                <a:solidFill>
                  <a:srgbClr val="000000"/>
                </a:solidFill>
                <a:latin typeface="Cambria Math" pitchFamily="18"/>
                <a:ea typeface="Arial" pitchFamily="34"/>
                <a:cs typeface="Arial" pitchFamily="34"/>
              </a:rPr>
              <a:t>T</a:t>
            </a:r>
            <a:r>
              <a:rPr lang="en-US" sz="2000" b="1" dirty="0" err="1">
                <a:solidFill>
                  <a:srgbClr val="000000"/>
                </a:solidFill>
                <a:latin typeface="Cambria Math" pitchFamily="18"/>
                <a:ea typeface="Arial" pitchFamily="34"/>
                <a:cs typeface="Arial" pitchFamily="34"/>
              </a:rPr>
              <a:t>x</a:t>
            </a:r>
            <a:r>
              <a:rPr lang="en-US" sz="2000" baseline="30000" dirty="0">
                <a:solidFill>
                  <a:srgbClr val="000000"/>
                </a:solidFill>
                <a:latin typeface="Cambria Math" pitchFamily="18"/>
                <a:ea typeface="Calibri" pitchFamily="34"/>
                <a:cs typeface="Calibri" pitchFamily="34"/>
              </a:rPr>
              <a:t>µ</a:t>
            </a:r>
            <a:r>
              <a:rPr lang="en-US" sz="2000" dirty="0">
                <a:solidFill>
                  <a:srgbClr val="000000"/>
                </a:solidFill>
                <a:latin typeface="Cambria Math" pitchFamily="18"/>
                <a:ea typeface="Arial" pitchFamily="34"/>
                <a:cs typeface="Arial" pitchFamily="34"/>
              </a:rPr>
              <a:t>)</a:t>
            </a:r>
            <a:r>
              <a:rPr lang="en-US" sz="2000" i="1" dirty="0">
                <a:solidFill>
                  <a:srgbClr val="000000"/>
                </a:solidFill>
                <a:latin typeface="Microsoft JhengHei Light" pitchFamily="34"/>
                <a:ea typeface="Arial" pitchFamily="34"/>
                <a:cs typeface="Arial" pitchFamily="34"/>
              </a:rPr>
              <a:t>.</a:t>
            </a:r>
            <a:r>
              <a:rPr lang="en-US" sz="2000" i="1" dirty="0">
                <a:solidFill>
                  <a:srgbClr val="000000"/>
                </a:solidFill>
                <a:latin typeface="Arial" pitchFamily="34"/>
                <a:ea typeface="Arial" pitchFamily="34"/>
                <a:cs typeface="Arial" pitchFamily="34"/>
              </a:rPr>
              <a:t> </a:t>
            </a:r>
            <a:r>
              <a:rPr lang="en-US" sz="2000" dirty="0">
                <a:solidFill>
                  <a:srgbClr val="000000"/>
                </a:solidFill>
                <a:latin typeface="Calibri" pitchFamily="34"/>
                <a:ea typeface="Microsoft YaHei" pitchFamily="2"/>
                <a:cs typeface="Lucida Sans" pitchFamily="2"/>
              </a:rPr>
              <a:t>We would like the neuron’s response to each pattern,</a:t>
            </a:r>
            <a:r>
              <a:rPr lang="en-US" sz="2000" dirty="0">
                <a:solidFill>
                  <a:srgbClr val="000000"/>
                </a:solidFill>
                <a:latin typeface="Cambria Math" pitchFamily="18"/>
                <a:ea typeface="Microsoft YaHei" pitchFamily="2"/>
                <a:cs typeface="Lucida Sans" pitchFamily="2"/>
              </a:rPr>
              <a:t> ŷ</a:t>
            </a:r>
            <a:r>
              <a:rPr lang="en-US" sz="2000" baseline="30000" dirty="0">
                <a:solidFill>
                  <a:srgbClr val="000000"/>
                </a:solidFill>
                <a:latin typeface="Cambria Math" pitchFamily="18"/>
                <a:ea typeface="Calibri" pitchFamily="34"/>
                <a:cs typeface="Calibri" pitchFamily="34"/>
              </a:rPr>
              <a:t>µ</a:t>
            </a:r>
            <a:r>
              <a:rPr lang="en-US" sz="2000" i="1" baseline="30000" dirty="0">
                <a:solidFill>
                  <a:srgbClr val="000000"/>
                </a:solidFill>
                <a:latin typeface="Cambria Math" pitchFamily="18"/>
                <a:ea typeface="Calibri" pitchFamily="34"/>
                <a:cs typeface="Calibri" pitchFamily="34"/>
              </a:rPr>
              <a:t> </a:t>
            </a:r>
            <a:r>
              <a:rPr lang="en-US" sz="2000" i="1" dirty="0">
                <a:solidFill>
                  <a:srgbClr val="000000"/>
                </a:solidFill>
                <a:latin typeface="Cambria Math" pitchFamily="18"/>
                <a:ea typeface="Calibri" pitchFamily="34"/>
                <a:cs typeface="Calibri" pitchFamily="34"/>
              </a:rPr>
              <a:t>, </a:t>
            </a:r>
            <a:r>
              <a:rPr lang="en-US" sz="2000" dirty="0">
                <a:solidFill>
                  <a:srgbClr val="000000"/>
                </a:solidFill>
                <a:latin typeface="Calibri" pitchFamily="34"/>
                <a:ea typeface="Calibri" pitchFamily="34"/>
                <a:cs typeface="Calibri" pitchFamily="34"/>
              </a:rPr>
              <a:t>to be equivalent to </a:t>
            </a:r>
            <a:r>
              <a:rPr lang="en-US" sz="2000" dirty="0">
                <a:solidFill>
                  <a:srgbClr val="000000"/>
                </a:solidFill>
                <a:latin typeface="Cambria Math" pitchFamily="18"/>
                <a:ea typeface="Calibri" pitchFamily="34"/>
                <a:cs typeface="Calibri" pitchFamily="34"/>
              </a:rPr>
              <a:t>y</a:t>
            </a:r>
            <a:r>
              <a:rPr lang="en-US" sz="2000" baseline="30000" dirty="0">
                <a:solidFill>
                  <a:srgbClr val="000000"/>
                </a:solidFill>
                <a:latin typeface="Cambria Math" pitchFamily="18"/>
                <a:ea typeface="Calibri" pitchFamily="34"/>
                <a:cs typeface="Calibri" pitchFamily="34"/>
              </a:rPr>
              <a:t>µ</a:t>
            </a:r>
            <a:r>
              <a:rPr lang="en-US" sz="2000" dirty="0">
                <a:solidFill>
                  <a:srgbClr val="000000"/>
                </a:solidFill>
                <a:latin typeface="Calibri" pitchFamily="34"/>
                <a:ea typeface="Microsoft YaHei" pitchFamily="2"/>
                <a:cs typeface="Lucida Sans" pitchFamily="2"/>
              </a:rPr>
              <a:t>. To ensure that this occurs, the neuron updates its weights in the following manner (</a:t>
            </a:r>
            <a:r>
              <a:rPr lang="en-US" sz="2000" dirty="0">
                <a:solidFill>
                  <a:srgbClr val="000000"/>
                </a:solidFill>
                <a:latin typeface="Cambria Math" pitchFamily="18"/>
                <a:ea typeface="Microsoft YaHei" pitchFamily="2"/>
                <a:cs typeface="Lucida Sans" pitchFamily="2"/>
              </a:rPr>
              <a:t>η</a:t>
            </a:r>
            <a:r>
              <a:rPr lang="en-US" sz="2000" dirty="0">
                <a:solidFill>
                  <a:srgbClr val="000000"/>
                </a:solidFill>
                <a:latin typeface="Calibri" pitchFamily="34"/>
                <a:ea typeface="Microsoft YaHei" pitchFamily="2"/>
                <a:cs typeface="Lucida Sans" pitchFamily="2"/>
              </a:rPr>
              <a:t> is a fixed learning rate).</a:t>
            </a:r>
          </a:p>
          <a:p>
            <a:pPr algn="just" hangingPunct="0"/>
            <a:endParaRPr lang="en-US" sz="2000" dirty="0">
              <a:solidFill>
                <a:srgbClr val="000000"/>
              </a:solidFill>
              <a:latin typeface="Calibri" pitchFamily="34"/>
              <a:ea typeface="Microsoft YaHei" pitchFamily="2"/>
              <a:cs typeface="Lucida Sans" pitchFamily="2"/>
            </a:endParaRPr>
          </a:p>
          <a:p>
            <a:pPr algn="just" hangingPunct="0"/>
            <a:r>
              <a:rPr lang="en-US" sz="2000" dirty="0">
                <a:solidFill>
                  <a:srgbClr val="000000"/>
                </a:solidFill>
                <a:latin typeface="Calibri" pitchFamily="34"/>
                <a:ea typeface="Microsoft YaHei" pitchFamily="2"/>
                <a:cs typeface="Lucida Sans" pitchFamily="2"/>
              </a:rPr>
              <a:t>While epoch &lt; </a:t>
            </a:r>
            <a:r>
              <a:rPr lang="en-US" sz="2000" dirty="0" err="1">
                <a:solidFill>
                  <a:srgbClr val="000000"/>
                </a:solidFill>
                <a:latin typeface="Calibri" pitchFamily="34"/>
                <a:ea typeface="Microsoft YaHei" pitchFamily="2"/>
                <a:cs typeface="Lucida Sans" pitchFamily="2"/>
              </a:rPr>
              <a:t>max_epochs</a:t>
            </a:r>
            <a:endParaRPr lang="en-US" sz="2000" dirty="0">
              <a:solidFill>
                <a:srgbClr val="000000"/>
              </a:solidFill>
              <a:latin typeface="Calibri" pitchFamily="34"/>
              <a:ea typeface="Microsoft YaHei" pitchFamily="2"/>
              <a:cs typeface="Lucida Sans" pitchFamily="2"/>
            </a:endParaRPr>
          </a:p>
          <a:p>
            <a:pPr algn="just" hangingPunct="0"/>
            <a:r>
              <a:rPr lang="en-US" sz="2000" dirty="0">
                <a:solidFill>
                  <a:srgbClr val="000000"/>
                </a:solidFill>
                <a:latin typeface="Calibri" pitchFamily="34"/>
                <a:ea typeface="Microsoft YaHei" pitchFamily="2"/>
                <a:cs typeface="Lucida Sans" pitchFamily="2"/>
              </a:rPr>
              <a:t>	For each pattern </a:t>
            </a:r>
            <a:r>
              <a:rPr lang="en-US" sz="2000" b="1" dirty="0">
                <a:solidFill>
                  <a:srgbClr val="000000"/>
                </a:solidFill>
                <a:latin typeface="Cambria Math" pitchFamily="18"/>
                <a:ea typeface="Microsoft YaHei" pitchFamily="2"/>
                <a:cs typeface="Lucida Sans" pitchFamily="2"/>
              </a:rPr>
              <a:t>x</a:t>
            </a:r>
            <a:r>
              <a:rPr lang="en-US" sz="2000" b="1" baseline="30000" dirty="0">
                <a:solidFill>
                  <a:srgbClr val="000000"/>
                </a:solidFill>
                <a:latin typeface="Cambria Math" pitchFamily="18"/>
                <a:ea typeface="Calibri" pitchFamily="34"/>
                <a:cs typeface="Calibri" pitchFamily="34"/>
              </a:rPr>
              <a:t>µ</a:t>
            </a:r>
            <a:r>
              <a:rPr lang="en-US" sz="2000" i="1" baseline="30000" dirty="0">
                <a:solidFill>
                  <a:srgbClr val="000000"/>
                </a:solidFill>
                <a:latin typeface="Calibri" pitchFamily="34"/>
                <a:ea typeface="Calibri" pitchFamily="34"/>
                <a:cs typeface="Calibri" pitchFamily="34"/>
              </a:rPr>
              <a:t> </a:t>
            </a:r>
            <a:r>
              <a:rPr lang="en-US" sz="2000" dirty="0">
                <a:solidFill>
                  <a:srgbClr val="000000"/>
                </a:solidFill>
                <a:latin typeface="Calibri" pitchFamily="34"/>
                <a:ea typeface="Microsoft YaHei" pitchFamily="2"/>
                <a:cs typeface="Lucida Sans" pitchFamily="2"/>
              </a:rPr>
              <a:t>:</a:t>
            </a:r>
          </a:p>
          <a:p>
            <a:pPr algn="just" hangingPunct="0"/>
            <a:r>
              <a:rPr lang="en-US" sz="2000" dirty="0">
                <a:solidFill>
                  <a:srgbClr val="000000"/>
                </a:solidFill>
                <a:latin typeface="Calibri" pitchFamily="34"/>
                <a:ea typeface="Microsoft YaHei" pitchFamily="2"/>
                <a:cs typeface="Lucida Sans" pitchFamily="2"/>
              </a:rPr>
              <a:t>		If </a:t>
            </a:r>
            <a:r>
              <a:rPr lang="en-US" sz="2000" dirty="0">
                <a:solidFill>
                  <a:srgbClr val="000000"/>
                </a:solidFill>
                <a:latin typeface="Cambria Math" pitchFamily="18"/>
                <a:ea typeface="Arial" pitchFamily="34"/>
                <a:cs typeface="Arial" pitchFamily="34"/>
              </a:rPr>
              <a:t>sign(</a:t>
            </a:r>
            <a:r>
              <a:rPr lang="en-US" sz="2000" b="1" dirty="0" err="1">
                <a:solidFill>
                  <a:srgbClr val="000000"/>
                </a:solidFill>
                <a:latin typeface="Cambria Math" pitchFamily="18"/>
                <a:ea typeface="Arial" pitchFamily="34"/>
                <a:cs typeface="Arial" pitchFamily="34"/>
              </a:rPr>
              <a:t>w</a:t>
            </a:r>
            <a:r>
              <a:rPr lang="en-US" sz="2000" baseline="30000" dirty="0" err="1">
                <a:solidFill>
                  <a:srgbClr val="000000"/>
                </a:solidFill>
                <a:latin typeface="Cambria Math" pitchFamily="18"/>
                <a:ea typeface="Arial" pitchFamily="34"/>
                <a:cs typeface="Arial" pitchFamily="34"/>
              </a:rPr>
              <a:t>T</a:t>
            </a:r>
            <a:r>
              <a:rPr lang="en-US" sz="2000" b="1" dirty="0" err="1">
                <a:solidFill>
                  <a:srgbClr val="000000"/>
                </a:solidFill>
                <a:latin typeface="Cambria Math" pitchFamily="18"/>
                <a:ea typeface="Arial" pitchFamily="34"/>
                <a:cs typeface="Arial" pitchFamily="34"/>
              </a:rPr>
              <a:t>x</a:t>
            </a:r>
            <a:r>
              <a:rPr lang="en-US" sz="2000" b="1" baseline="30000" dirty="0">
                <a:solidFill>
                  <a:srgbClr val="000000"/>
                </a:solidFill>
                <a:latin typeface="Cambria Math" pitchFamily="18"/>
                <a:ea typeface="Calibri" pitchFamily="34"/>
                <a:cs typeface="Calibri" pitchFamily="34"/>
              </a:rPr>
              <a:t>µ</a:t>
            </a:r>
            <a:r>
              <a:rPr lang="en-US" sz="2000" dirty="0">
                <a:solidFill>
                  <a:srgbClr val="000000"/>
                </a:solidFill>
                <a:latin typeface="Cambria Math" pitchFamily="18"/>
                <a:ea typeface="Arial" pitchFamily="34"/>
                <a:cs typeface="Arial" pitchFamily="34"/>
              </a:rPr>
              <a:t>)</a:t>
            </a:r>
            <a:r>
              <a:rPr lang="en-US" sz="2000" i="1" dirty="0">
                <a:solidFill>
                  <a:srgbClr val="000000"/>
                </a:solidFill>
                <a:latin typeface="Cambria Math" pitchFamily="18"/>
                <a:ea typeface="Microsoft YaHei" pitchFamily="2"/>
                <a:cs typeface="Lucida Sans" pitchFamily="2"/>
              </a:rPr>
              <a:t> </a:t>
            </a:r>
            <a:r>
              <a:rPr lang="en-US" sz="2000" dirty="0">
                <a:solidFill>
                  <a:srgbClr val="000000"/>
                </a:solidFill>
                <a:latin typeface="Cambria Math" pitchFamily="18"/>
                <a:ea typeface="Microsoft YaHei" pitchFamily="2"/>
                <a:cs typeface="Lucida Sans" pitchFamily="2"/>
              </a:rPr>
              <a:t>==</a:t>
            </a:r>
            <a:r>
              <a:rPr lang="en-US" sz="2000" i="1" dirty="0">
                <a:solidFill>
                  <a:srgbClr val="000000"/>
                </a:solidFill>
                <a:latin typeface="Cambria Math" pitchFamily="18"/>
                <a:ea typeface="Microsoft YaHei" pitchFamily="2"/>
                <a:cs typeface="Lucida Sans" pitchFamily="2"/>
              </a:rPr>
              <a:t> </a:t>
            </a:r>
            <a:r>
              <a:rPr lang="en-US" sz="2000" dirty="0">
                <a:solidFill>
                  <a:srgbClr val="000000"/>
                </a:solidFill>
                <a:latin typeface="Cambria Math" pitchFamily="18"/>
                <a:ea typeface="Calibri" pitchFamily="34"/>
                <a:cs typeface="Calibri" pitchFamily="34"/>
              </a:rPr>
              <a:t>y</a:t>
            </a:r>
            <a:r>
              <a:rPr lang="en-US" sz="2000" baseline="30000" dirty="0">
                <a:solidFill>
                  <a:srgbClr val="000000"/>
                </a:solidFill>
                <a:latin typeface="Cambria Math" pitchFamily="18"/>
                <a:ea typeface="Calibri" pitchFamily="34"/>
                <a:cs typeface="Calibri" pitchFamily="34"/>
              </a:rPr>
              <a:t>µ</a:t>
            </a:r>
            <a:r>
              <a:rPr lang="en-US" sz="2000" dirty="0">
                <a:solidFill>
                  <a:srgbClr val="000000"/>
                </a:solidFill>
                <a:latin typeface="Calibri" pitchFamily="34"/>
                <a:ea typeface="Microsoft YaHei" pitchFamily="2"/>
                <a:cs typeface="Lucida Sans" pitchFamily="2"/>
              </a:rPr>
              <a:t>, do nothing.</a:t>
            </a:r>
          </a:p>
          <a:p>
            <a:pPr algn="just" hangingPunct="0"/>
            <a:r>
              <a:rPr lang="en-US" sz="2000" dirty="0">
                <a:solidFill>
                  <a:srgbClr val="000000"/>
                </a:solidFill>
                <a:latin typeface="Calibri" pitchFamily="34"/>
                <a:ea typeface="Microsoft YaHei" pitchFamily="2"/>
                <a:cs typeface="Lucida Sans" pitchFamily="2"/>
              </a:rPr>
              <a:t>		Otherwise update the weights:</a:t>
            </a:r>
          </a:p>
          <a:p>
            <a:pPr algn="just" hangingPunct="0"/>
            <a:r>
              <a:rPr lang="en-US" sz="2000" dirty="0">
                <a:solidFill>
                  <a:srgbClr val="000000"/>
                </a:solidFill>
                <a:latin typeface="Calibri" pitchFamily="34"/>
                <a:ea typeface="Microsoft YaHei" pitchFamily="2"/>
                <a:cs typeface="Lucida Sans" pitchFamily="2"/>
              </a:rPr>
              <a:t>			</a:t>
            </a:r>
            <a:r>
              <a:rPr lang="en-US" sz="2000" b="1" dirty="0">
                <a:solidFill>
                  <a:srgbClr val="000000"/>
                </a:solidFill>
                <a:latin typeface="Cambria Math" pitchFamily="18"/>
                <a:ea typeface="Microsoft YaHei" pitchFamily="2"/>
                <a:cs typeface="Lucida Sans" pitchFamily="2"/>
              </a:rPr>
              <a:t>w</a:t>
            </a:r>
            <a:r>
              <a:rPr lang="en-US" sz="2000" b="1" baseline="-25000" dirty="0">
                <a:solidFill>
                  <a:srgbClr val="000000"/>
                </a:solidFill>
                <a:latin typeface="Cambria Math" pitchFamily="18"/>
                <a:ea typeface="Microsoft YaHei" pitchFamily="2"/>
                <a:cs typeface="Lucida Sans" pitchFamily="2"/>
              </a:rPr>
              <a:t> </a:t>
            </a:r>
            <a:r>
              <a:rPr lang="en-US" sz="2000" b="1" dirty="0">
                <a:solidFill>
                  <a:srgbClr val="000000"/>
                </a:solidFill>
                <a:latin typeface="Cambria Math" pitchFamily="18"/>
                <a:ea typeface="Microsoft YaHei" pitchFamily="2"/>
                <a:cs typeface="Lucida Sans" pitchFamily="2"/>
              </a:rPr>
              <a:t>← w</a:t>
            </a:r>
            <a:r>
              <a:rPr lang="en-US" sz="2000" dirty="0">
                <a:solidFill>
                  <a:srgbClr val="000000"/>
                </a:solidFill>
                <a:latin typeface="Cambria Math" pitchFamily="18"/>
                <a:ea typeface="Microsoft YaHei" pitchFamily="2"/>
                <a:cs typeface="Lucida Sans" pitchFamily="2"/>
              </a:rPr>
              <a:t> + </a:t>
            </a:r>
            <a:r>
              <a:rPr lang="en-US" sz="2000" dirty="0" err="1">
                <a:solidFill>
                  <a:srgbClr val="000000"/>
                </a:solidFill>
                <a:latin typeface="Cambria Math" pitchFamily="18"/>
                <a:ea typeface="Microsoft YaHei" pitchFamily="2"/>
                <a:cs typeface="Lucida Sans" pitchFamily="2"/>
              </a:rPr>
              <a:t>η</a:t>
            </a:r>
            <a:r>
              <a:rPr lang="en-US" sz="2000" b="1" dirty="0" err="1">
                <a:solidFill>
                  <a:srgbClr val="000000"/>
                </a:solidFill>
                <a:latin typeface="Cambria Math" pitchFamily="18"/>
                <a:ea typeface="Microsoft YaHei" pitchFamily="2"/>
                <a:cs typeface="Lucida Sans" pitchFamily="2"/>
              </a:rPr>
              <a:t>x</a:t>
            </a:r>
            <a:r>
              <a:rPr lang="en-US" sz="2000" baseline="30000" dirty="0" err="1">
                <a:solidFill>
                  <a:srgbClr val="000000"/>
                </a:solidFill>
                <a:latin typeface="Cambria Math" pitchFamily="18"/>
                <a:ea typeface="Calibri" pitchFamily="34"/>
                <a:cs typeface="Calibri" pitchFamily="34"/>
              </a:rPr>
              <a:t>µ</a:t>
            </a:r>
            <a:r>
              <a:rPr lang="en-US" sz="2000" b="1" dirty="0" err="1">
                <a:solidFill>
                  <a:srgbClr val="000000"/>
                </a:solidFill>
                <a:latin typeface="Cambria Math" pitchFamily="18"/>
                <a:ea typeface="Calibri" pitchFamily="34"/>
                <a:cs typeface="Calibri" pitchFamily="34"/>
              </a:rPr>
              <a:t>y</a:t>
            </a:r>
            <a:r>
              <a:rPr lang="en-US" sz="2000" baseline="30000" dirty="0">
                <a:solidFill>
                  <a:srgbClr val="000000"/>
                </a:solidFill>
                <a:latin typeface="Cambria Math" pitchFamily="18"/>
                <a:ea typeface="Calibri" pitchFamily="34"/>
                <a:cs typeface="Calibri" pitchFamily="34"/>
              </a:rPr>
              <a:t>µ</a:t>
            </a:r>
          </a:p>
          <a:p>
            <a:pPr algn="just" hangingPunct="0"/>
            <a:endParaRPr lang="en-US" sz="2000" baseline="30000" dirty="0">
              <a:solidFill>
                <a:srgbClr val="000000"/>
              </a:solidFill>
              <a:latin typeface="Cambria Math" pitchFamily="18"/>
              <a:ea typeface="Calibri" pitchFamily="34"/>
              <a:cs typeface="Calibri" pitchFamily="34"/>
            </a:endParaRPr>
          </a:p>
          <a:p>
            <a:pPr algn="just" hangingPunct="0"/>
            <a:r>
              <a:rPr lang="en-US" sz="2000" dirty="0">
                <a:solidFill>
                  <a:srgbClr val="000000"/>
                </a:solidFill>
                <a:latin typeface="Calibri" pitchFamily="34"/>
                <a:ea typeface="Microsoft YaHei" pitchFamily="2"/>
                <a:cs typeface="Lucida Sans" pitchFamily="2"/>
              </a:rPr>
              <a:t>For example, we might have the pattern </a:t>
            </a:r>
            <a:r>
              <a:rPr lang="en-US" sz="2000" b="1" dirty="0">
                <a:solidFill>
                  <a:srgbClr val="000000"/>
                </a:solidFill>
                <a:latin typeface="Cambria Math" pitchFamily="18"/>
                <a:ea typeface="Microsoft YaHei" pitchFamily="2"/>
                <a:cs typeface="Lucida Sans" pitchFamily="2"/>
              </a:rPr>
              <a:t>x</a:t>
            </a:r>
            <a:r>
              <a:rPr lang="en-US" sz="2000" baseline="33000" dirty="0">
                <a:solidFill>
                  <a:srgbClr val="000000"/>
                </a:solidFill>
                <a:latin typeface="Cambria Math" pitchFamily="18"/>
                <a:ea typeface="Microsoft YaHei" pitchFamily="2"/>
                <a:cs typeface="Lucida Sans" pitchFamily="2"/>
              </a:rPr>
              <a:t>1</a:t>
            </a:r>
            <a:r>
              <a:rPr lang="en-US" sz="2000" b="1" baseline="33000" dirty="0">
                <a:solidFill>
                  <a:srgbClr val="000000"/>
                </a:solidFill>
                <a:latin typeface="Cambria Math" pitchFamily="18"/>
                <a:ea typeface="Microsoft YaHei" pitchFamily="2"/>
                <a:cs typeface="Lucida Sans" pitchFamily="2"/>
              </a:rPr>
              <a:t> </a:t>
            </a:r>
            <a:r>
              <a:rPr lang="en-US" sz="2000" dirty="0">
                <a:solidFill>
                  <a:srgbClr val="000000"/>
                </a:solidFill>
                <a:latin typeface="Cambria Math" pitchFamily="18"/>
                <a:ea typeface="Microsoft YaHei" pitchFamily="2"/>
                <a:cs typeface="Lucida Sans" pitchFamily="2"/>
              </a:rPr>
              <a:t>= [1 0 0 1]</a:t>
            </a:r>
            <a:r>
              <a:rPr lang="en-US" sz="2000" dirty="0">
                <a:solidFill>
                  <a:srgbClr val="000000"/>
                </a:solidFill>
                <a:latin typeface="Calibri" pitchFamily="34"/>
                <a:ea typeface="Microsoft YaHei" pitchFamily="2"/>
                <a:cs typeface="Lucida Sans" pitchFamily="2"/>
              </a:rPr>
              <a:t> which is assigned the label </a:t>
            </a:r>
            <a:r>
              <a:rPr lang="en-US" sz="2000" dirty="0">
                <a:solidFill>
                  <a:srgbClr val="000000"/>
                </a:solidFill>
                <a:latin typeface="Cambria Math" pitchFamily="18"/>
                <a:ea typeface="Microsoft YaHei" pitchFamily="2"/>
                <a:cs typeface="Lucida Sans" pitchFamily="2"/>
              </a:rPr>
              <a:t>y</a:t>
            </a:r>
            <a:r>
              <a:rPr lang="en-US" sz="2000" baseline="33000" dirty="0">
                <a:solidFill>
                  <a:srgbClr val="000000"/>
                </a:solidFill>
                <a:latin typeface="Cambria Math" pitchFamily="18"/>
                <a:ea typeface="Microsoft YaHei" pitchFamily="2"/>
                <a:cs typeface="Lucida Sans" pitchFamily="2"/>
              </a:rPr>
              <a:t>1 </a:t>
            </a:r>
            <a:r>
              <a:rPr lang="en-US" sz="2000" dirty="0">
                <a:solidFill>
                  <a:srgbClr val="000000"/>
                </a:solidFill>
                <a:latin typeface="Cambria Math" pitchFamily="18"/>
                <a:ea typeface="Microsoft YaHei" pitchFamily="2"/>
                <a:cs typeface="Lucida Sans" pitchFamily="2"/>
              </a:rPr>
              <a:t>= +1</a:t>
            </a:r>
            <a:r>
              <a:rPr lang="en-US" sz="2000" dirty="0">
                <a:solidFill>
                  <a:srgbClr val="000000"/>
                </a:solidFill>
                <a:latin typeface="Calibri" pitchFamily="34"/>
                <a:ea typeface="Microsoft YaHei" pitchFamily="2"/>
                <a:cs typeface="Lucida Sans" pitchFamily="2"/>
              </a:rPr>
              <a:t>. If the perceptron’s current weight vector is </a:t>
            </a:r>
            <a:r>
              <a:rPr lang="en-US" sz="2000" b="1" dirty="0">
                <a:solidFill>
                  <a:srgbClr val="000000"/>
                </a:solidFill>
                <a:latin typeface="Cambria Math" pitchFamily="18"/>
                <a:ea typeface="Microsoft YaHei" pitchFamily="2"/>
                <a:cs typeface="Lucida Sans" pitchFamily="2"/>
              </a:rPr>
              <a:t>w = </a:t>
            </a:r>
            <a:r>
              <a:rPr lang="en-US" sz="2000" dirty="0">
                <a:solidFill>
                  <a:srgbClr val="000000"/>
                </a:solidFill>
                <a:latin typeface="Cambria Math" pitchFamily="18"/>
                <a:ea typeface="Microsoft YaHei" pitchFamily="2"/>
                <a:cs typeface="Lucida Sans" pitchFamily="2"/>
              </a:rPr>
              <a:t>[-2 3 4 1]</a:t>
            </a:r>
            <a:r>
              <a:rPr lang="en-US" sz="2000" dirty="0">
                <a:solidFill>
                  <a:srgbClr val="000000"/>
                </a:solidFill>
                <a:latin typeface="Calibri" pitchFamily="34"/>
                <a:ea typeface="Microsoft YaHei" pitchFamily="2"/>
                <a:cs typeface="Lucida Sans" pitchFamily="2"/>
              </a:rPr>
              <a:t>, the output of the neuron will be  </a:t>
            </a:r>
            <a:r>
              <a:rPr lang="en-US" sz="2000" dirty="0">
                <a:solidFill>
                  <a:srgbClr val="000000"/>
                </a:solidFill>
                <a:latin typeface="Cambria Math" pitchFamily="18"/>
                <a:ea typeface="Arial" pitchFamily="34"/>
                <a:cs typeface="Arial" pitchFamily="34"/>
              </a:rPr>
              <a:t>sign(</a:t>
            </a:r>
            <a:r>
              <a:rPr lang="en-US" sz="2000" b="1" dirty="0">
                <a:solidFill>
                  <a:srgbClr val="000000"/>
                </a:solidFill>
                <a:latin typeface="Cambria Math" pitchFamily="18"/>
                <a:ea typeface="Arial" pitchFamily="34"/>
                <a:cs typeface="Arial" pitchFamily="34"/>
              </a:rPr>
              <a:t>w</a:t>
            </a:r>
            <a:r>
              <a:rPr lang="en-US" sz="2000" baseline="30000" dirty="0">
                <a:solidFill>
                  <a:srgbClr val="000000"/>
                </a:solidFill>
                <a:latin typeface="Cambria Math" pitchFamily="18"/>
                <a:ea typeface="Arial" pitchFamily="34"/>
                <a:cs typeface="Arial" pitchFamily="34"/>
              </a:rPr>
              <a:t>T</a:t>
            </a:r>
            <a:r>
              <a:rPr lang="en-US" sz="2000" b="1" dirty="0">
                <a:solidFill>
                  <a:srgbClr val="000000"/>
                </a:solidFill>
                <a:latin typeface="Cambria Math" pitchFamily="18"/>
                <a:ea typeface="Arial" pitchFamily="34"/>
                <a:cs typeface="Arial" pitchFamily="34"/>
              </a:rPr>
              <a:t>x</a:t>
            </a:r>
            <a:r>
              <a:rPr lang="en-US" sz="2000" baseline="30000" dirty="0">
                <a:solidFill>
                  <a:srgbClr val="000000"/>
                </a:solidFill>
                <a:latin typeface="Cambria Math" pitchFamily="18"/>
                <a:ea typeface="Calibri" pitchFamily="34"/>
                <a:cs typeface="Calibri" pitchFamily="34"/>
              </a:rPr>
              <a:t>1</a:t>
            </a:r>
            <a:r>
              <a:rPr lang="en-US" sz="2000" dirty="0">
                <a:solidFill>
                  <a:srgbClr val="000000"/>
                </a:solidFill>
                <a:latin typeface="Cambria Math" pitchFamily="18"/>
                <a:ea typeface="Arial" pitchFamily="34"/>
                <a:cs typeface="Arial" pitchFamily="34"/>
              </a:rPr>
              <a:t>)</a:t>
            </a:r>
            <a:r>
              <a:rPr lang="en-US" sz="2000" i="1" dirty="0">
                <a:solidFill>
                  <a:srgbClr val="000000"/>
                </a:solidFill>
                <a:latin typeface="Cambria Math" pitchFamily="18"/>
                <a:ea typeface="Microsoft YaHei" pitchFamily="2"/>
                <a:cs typeface="Lucida Sans" pitchFamily="2"/>
              </a:rPr>
              <a:t> </a:t>
            </a:r>
            <a:r>
              <a:rPr lang="en-US" sz="2000" dirty="0">
                <a:solidFill>
                  <a:srgbClr val="000000"/>
                </a:solidFill>
                <a:latin typeface="Cambria Math" pitchFamily="18"/>
                <a:ea typeface="Microsoft YaHei" pitchFamily="2"/>
                <a:cs typeface="Lucida Sans" pitchFamily="2"/>
              </a:rPr>
              <a:t>= sign</a:t>
            </a:r>
            <a:r>
              <a:rPr lang="en-US" sz="2000" dirty="0">
                <a:solidFill>
                  <a:srgbClr val="000000"/>
                </a:solidFill>
                <a:latin typeface="Cambria Math" pitchFamily="18"/>
                <a:ea typeface="Calibri" pitchFamily="34"/>
                <a:cs typeface="Calibri" pitchFamily="34"/>
              </a:rPr>
              <a:t>(-1) = -1. The output is incorrect, so we update the weight vector by adding the pattern to the weight vector, giving us </a:t>
            </a:r>
            <a:r>
              <a:rPr lang="en-US" sz="2000" b="1" dirty="0">
                <a:solidFill>
                  <a:srgbClr val="000000"/>
                </a:solidFill>
                <a:latin typeface="Cambria Math" pitchFamily="18"/>
                <a:ea typeface="Calibri" pitchFamily="34"/>
                <a:cs typeface="Calibri" pitchFamily="34"/>
              </a:rPr>
              <a:t>w = </a:t>
            </a:r>
            <a:r>
              <a:rPr lang="en-US" sz="2000" dirty="0">
                <a:solidFill>
                  <a:srgbClr val="000000"/>
                </a:solidFill>
                <a:latin typeface="Cambria Math" pitchFamily="18"/>
                <a:ea typeface="Calibri" pitchFamily="34"/>
                <a:cs typeface="Calibri" pitchFamily="34"/>
              </a:rPr>
              <a:t>[-1 3 4 2]. The neuron now outputs </a:t>
            </a:r>
            <a:r>
              <a:rPr lang="en-US" sz="2000" dirty="0">
                <a:solidFill>
                  <a:srgbClr val="000000"/>
                </a:solidFill>
                <a:latin typeface="Cambria Math" pitchFamily="18"/>
                <a:ea typeface="Arial" pitchFamily="34"/>
                <a:cs typeface="Arial" pitchFamily="34"/>
              </a:rPr>
              <a:t>sign(</a:t>
            </a:r>
            <a:r>
              <a:rPr lang="en-US" sz="2000" b="1" dirty="0">
                <a:solidFill>
                  <a:srgbClr val="000000"/>
                </a:solidFill>
                <a:latin typeface="Cambria Math" pitchFamily="18"/>
                <a:ea typeface="Arial" pitchFamily="34"/>
                <a:cs typeface="Arial" pitchFamily="34"/>
              </a:rPr>
              <a:t>w</a:t>
            </a:r>
            <a:r>
              <a:rPr lang="en-US" sz="2000" baseline="30000" dirty="0">
                <a:solidFill>
                  <a:srgbClr val="000000"/>
                </a:solidFill>
                <a:latin typeface="Cambria Math" pitchFamily="18"/>
                <a:ea typeface="Arial" pitchFamily="34"/>
                <a:cs typeface="Arial" pitchFamily="34"/>
              </a:rPr>
              <a:t>T</a:t>
            </a:r>
            <a:r>
              <a:rPr lang="en-US" sz="2000" b="1" dirty="0">
                <a:solidFill>
                  <a:srgbClr val="000000"/>
                </a:solidFill>
                <a:latin typeface="Cambria Math" pitchFamily="18"/>
                <a:ea typeface="Arial" pitchFamily="34"/>
                <a:cs typeface="Arial" pitchFamily="34"/>
              </a:rPr>
              <a:t>x</a:t>
            </a:r>
            <a:r>
              <a:rPr lang="en-US" sz="2000" baseline="30000" dirty="0">
                <a:solidFill>
                  <a:srgbClr val="000000"/>
                </a:solidFill>
                <a:latin typeface="Cambria Math" pitchFamily="18"/>
                <a:ea typeface="Calibri" pitchFamily="34"/>
                <a:cs typeface="Calibri" pitchFamily="34"/>
              </a:rPr>
              <a:t>1</a:t>
            </a:r>
            <a:r>
              <a:rPr lang="en-US" sz="2000" dirty="0">
                <a:solidFill>
                  <a:srgbClr val="000000"/>
                </a:solidFill>
                <a:latin typeface="Cambria Math" pitchFamily="18"/>
                <a:ea typeface="Arial" pitchFamily="34"/>
                <a:cs typeface="Arial" pitchFamily="34"/>
              </a:rPr>
              <a:t>)</a:t>
            </a:r>
            <a:r>
              <a:rPr lang="en-US" sz="2000" i="1" dirty="0">
                <a:solidFill>
                  <a:srgbClr val="000000"/>
                </a:solidFill>
                <a:latin typeface="Cambria Math" pitchFamily="18"/>
                <a:ea typeface="Calibri" pitchFamily="34"/>
                <a:cs typeface="Calibri" pitchFamily="34"/>
              </a:rPr>
              <a:t> </a:t>
            </a:r>
            <a:r>
              <a:rPr lang="en-US" sz="2000" dirty="0">
                <a:solidFill>
                  <a:srgbClr val="000000"/>
                </a:solidFill>
                <a:latin typeface="Cambria Math" pitchFamily="18"/>
                <a:ea typeface="Calibri" pitchFamily="34"/>
                <a:cs typeface="Calibri" pitchFamily="34"/>
              </a:rPr>
              <a:t>= sign(1) = +1, so the pattern is correctly classified.</a:t>
            </a:r>
          </a:p>
        </p:txBody>
      </p:sp>
      <p:sp>
        <p:nvSpPr>
          <p:cNvPr id="5" name="Text Box 122">
            <a:extLst>
              <a:ext uri="{FF2B5EF4-FFF2-40B4-BE49-F238E27FC236}">
                <a16:creationId xmlns:a16="http://schemas.microsoft.com/office/drawing/2014/main" id="{5CB738F6-6543-4D87-A4CF-ECB6A2129BB6}"/>
              </a:ext>
            </a:extLst>
          </p:cNvPr>
          <p:cNvSpPr/>
          <p:nvPr/>
        </p:nvSpPr>
        <p:spPr>
          <a:xfrm>
            <a:off x="5028991" y="701905"/>
            <a:ext cx="20116592" cy="178860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138808" tIns="347334" rIns="138808" bIns="347334" anchor="ctr" anchorCtr="0" compatLnSpc="0">
            <a:spAutoFit/>
          </a:bodyPr>
          <a:lstStyle/>
          <a:p>
            <a:pPr algn="ctr"/>
            <a:r>
              <a:rPr lang="en-US" sz="6945" b="1" dirty="0">
                <a:solidFill>
                  <a:srgbClr val="FFFFFF"/>
                </a:solidFill>
                <a:latin typeface="Calibri" pitchFamily="34"/>
                <a:ea typeface="Microsoft YaHei" pitchFamily="2"/>
                <a:cs typeface="Lucida Sans" pitchFamily="2"/>
              </a:rPr>
              <a:t>Towards a Biophysical Perceptron</a:t>
            </a:r>
          </a:p>
        </p:txBody>
      </p:sp>
      <p:sp>
        <p:nvSpPr>
          <p:cNvPr id="6" name="Text Box 123">
            <a:extLst>
              <a:ext uri="{FF2B5EF4-FFF2-40B4-BE49-F238E27FC236}">
                <a16:creationId xmlns:a16="http://schemas.microsoft.com/office/drawing/2014/main" id="{38C945C8-AE8F-49B6-9DCE-C889BF6667E6}"/>
              </a:ext>
            </a:extLst>
          </p:cNvPr>
          <p:cNvSpPr/>
          <p:nvPr/>
        </p:nvSpPr>
        <p:spPr>
          <a:xfrm>
            <a:off x="957903" y="2630712"/>
            <a:ext cx="29222299" cy="157128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138808" tIns="138808" rIns="138808" bIns="138808" anchor="ctr" anchorCtr="0" compatLnSpc="0">
            <a:noAutofit/>
          </a:bodyPr>
          <a:lstStyle/>
          <a:p>
            <a:pPr algn="ctr"/>
            <a:r>
              <a:rPr lang="en-US" sz="4167" baseline="30000" dirty="0">
                <a:solidFill>
                  <a:srgbClr val="FFFFFF"/>
                </a:solidFill>
                <a:latin typeface="Calibri" pitchFamily="34"/>
                <a:ea typeface="Microsoft YaHei" pitchFamily="2"/>
                <a:cs typeface="Lucida Sans" pitchFamily="2"/>
              </a:rPr>
              <a:t>1</a:t>
            </a:r>
            <a:r>
              <a:rPr lang="en-US" sz="4167" dirty="0">
                <a:solidFill>
                  <a:srgbClr val="FFFFFF"/>
                </a:solidFill>
                <a:latin typeface="Calibri" pitchFamily="34"/>
                <a:ea typeface="Microsoft YaHei" pitchFamily="2"/>
                <a:cs typeface="Lucida Sans" pitchFamily="2"/>
              </a:rPr>
              <a:t>Toviah </a:t>
            </a:r>
            <a:r>
              <a:rPr lang="en-US" sz="4167" dirty="0" err="1">
                <a:solidFill>
                  <a:srgbClr val="FFFFFF"/>
                </a:solidFill>
                <a:latin typeface="Calibri" pitchFamily="34"/>
                <a:ea typeface="Microsoft YaHei" pitchFamily="2"/>
                <a:cs typeface="Lucida Sans" pitchFamily="2"/>
              </a:rPr>
              <a:t>Moldwin</a:t>
            </a:r>
            <a:r>
              <a:rPr lang="en-US" sz="4167" dirty="0">
                <a:solidFill>
                  <a:srgbClr val="FFFFFF"/>
                </a:solidFill>
                <a:latin typeface="Calibri" pitchFamily="34"/>
                <a:ea typeface="Microsoft YaHei" pitchFamily="2"/>
                <a:cs typeface="Lucida Sans" pitchFamily="2"/>
              </a:rPr>
              <a:t>, </a:t>
            </a:r>
            <a:r>
              <a:rPr lang="en-US" sz="4167" baseline="30000" dirty="0">
                <a:solidFill>
                  <a:srgbClr val="FFFFFF"/>
                </a:solidFill>
                <a:latin typeface="Calibri" pitchFamily="34"/>
                <a:ea typeface="Microsoft YaHei" pitchFamily="2"/>
                <a:cs typeface="Lucida Sans" pitchFamily="2"/>
              </a:rPr>
              <a:t>1,2</a:t>
            </a:r>
            <a:r>
              <a:rPr lang="en-US" sz="4167" dirty="0">
                <a:solidFill>
                  <a:srgbClr val="FFFFFF"/>
                </a:solidFill>
                <a:latin typeface="Calibri" pitchFamily="34"/>
                <a:ea typeface="Microsoft YaHei" pitchFamily="2"/>
                <a:cs typeface="Lucida Sans" pitchFamily="2"/>
              </a:rPr>
              <a:t>Idan </a:t>
            </a:r>
            <a:r>
              <a:rPr lang="en-US" sz="4167" dirty="0" err="1">
                <a:solidFill>
                  <a:srgbClr val="FFFFFF"/>
                </a:solidFill>
                <a:latin typeface="Calibri" pitchFamily="34"/>
                <a:ea typeface="Microsoft YaHei" pitchFamily="2"/>
                <a:cs typeface="Lucida Sans" pitchFamily="2"/>
              </a:rPr>
              <a:t>Segev</a:t>
            </a:r>
            <a:endParaRPr lang="en-US" sz="4167" dirty="0">
              <a:solidFill>
                <a:srgbClr val="FFFFFF"/>
              </a:solidFill>
              <a:latin typeface="Calibri" pitchFamily="34"/>
              <a:ea typeface="Microsoft YaHei" pitchFamily="2"/>
              <a:cs typeface="Lucida Sans" pitchFamily="2"/>
            </a:endParaRPr>
          </a:p>
          <a:p>
            <a:pPr algn="ctr"/>
            <a:r>
              <a:rPr lang="en-US" sz="4167" baseline="30000" dirty="0">
                <a:solidFill>
                  <a:srgbClr val="FFFFFF"/>
                </a:solidFill>
                <a:latin typeface="Calibri" pitchFamily="34"/>
                <a:ea typeface="Microsoft YaHei" pitchFamily="2"/>
                <a:cs typeface="Lucida Sans" pitchFamily="2"/>
              </a:rPr>
              <a:t>1</a:t>
            </a:r>
            <a:r>
              <a:rPr lang="en-US" sz="4167" dirty="0">
                <a:solidFill>
                  <a:srgbClr val="FFFFFF"/>
                </a:solidFill>
                <a:latin typeface="Calibri" pitchFamily="34"/>
                <a:ea typeface="Microsoft YaHei" pitchFamily="2"/>
                <a:cs typeface="Lucida Sans" pitchFamily="2"/>
              </a:rPr>
              <a:t>The Edmond and Lily </a:t>
            </a:r>
            <a:r>
              <a:rPr lang="en-US" sz="4167" dirty="0" err="1">
                <a:solidFill>
                  <a:srgbClr val="FFFFFF"/>
                </a:solidFill>
                <a:latin typeface="Calibri" pitchFamily="34"/>
                <a:ea typeface="Microsoft YaHei" pitchFamily="2"/>
                <a:cs typeface="Lucida Sans" pitchFamily="2"/>
              </a:rPr>
              <a:t>Safra</a:t>
            </a:r>
            <a:r>
              <a:rPr lang="en-US" sz="4167" dirty="0">
                <a:solidFill>
                  <a:srgbClr val="FFFFFF"/>
                </a:solidFill>
                <a:latin typeface="Calibri" pitchFamily="34"/>
                <a:ea typeface="Microsoft YaHei" pitchFamily="2"/>
                <a:cs typeface="Lucida Sans" pitchFamily="2"/>
              </a:rPr>
              <a:t> Center for Brain Sciences, </a:t>
            </a:r>
            <a:r>
              <a:rPr lang="en-US" sz="4167" baseline="30000" dirty="0">
                <a:solidFill>
                  <a:srgbClr val="FFFFFF"/>
                </a:solidFill>
                <a:latin typeface="Calibri" pitchFamily="34"/>
                <a:ea typeface="Microsoft YaHei" pitchFamily="2"/>
                <a:cs typeface="Lucida Sans" pitchFamily="2"/>
              </a:rPr>
              <a:t>2</a:t>
            </a:r>
            <a:r>
              <a:rPr lang="en-US" sz="4167" dirty="0">
                <a:solidFill>
                  <a:srgbClr val="FFFFFF"/>
                </a:solidFill>
                <a:latin typeface="Calibri" pitchFamily="34"/>
                <a:ea typeface="Microsoft YaHei" pitchFamily="2"/>
                <a:cs typeface="Lucida Sans" pitchFamily="2"/>
              </a:rPr>
              <a:t>The Department of Neurobiology, The Hebrew University of Jerusalem, Israel</a:t>
            </a:r>
          </a:p>
        </p:txBody>
      </p:sp>
      <p:sp>
        <p:nvSpPr>
          <p:cNvPr id="7" name="TextBox 23">
            <a:extLst>
              <a:ext uri="{FF2B5EF4-FFF2-40B4-BE49-F238E27FC236}">
                <a16:creationId xmlns:a16="http://schemas.microsoft.com/office/drawing/2014/main" id="{FC2C2107-9391-4C77-A56D-37B5489ED021}"/>
              </a:ext>
            </a:extLst>
          </p:cNvPr>
          <p:cNvSpPr/>
          <p:nvPr/>
        </p:nvSpPr>
        <p:spPr>
          <a:xfrm>
            <a:off x="611509" y="31816983"/>
            <a:ext cx="7635421" cy="224535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69404" tIns="34702" rIns="69404" bIns="34702" anchor="t" anchorCtr="0" compatLnSpc="0">
            <a:spAutoFit/>
          </a:bodyPr>
          <a:lstStyle/>
          <a:p>
            <a:r>
              <a:rPr lang="en-US" sz="2779" dirty="0" err="1">
                <a:solidFill>
                  <a:schemeClr val="bg1"/>
                </a:solidFill>
                <a:latin typeface="Calibri" pitchFamily="34"/>
                <a:ea typeface="Microsoft YaHei" pitchFamily="2"/>
                <a:cs typeface="Lucida Sans" pitchFamily="2"/>
              </a:rPr>
              <a:t>Toviah</a:t>
            </a:r>
            <a:r>
              <a:rPr lang="en-US" sz="2779" dirty="0">
                <a:solidFill>
                  <a:schemeClr val="bg1"/>
                </a:solidFill>
                <a:latin typeface="Calibri" pitchFamily="34"/>
                <a:ea typeface="Microsoft YaHei" pitchFamily="2"/>
                <a:cs typeface="Lucida Sans" pitchFamily="2"/>
              </a:rPr>
              <a:t> </a:t>
            </a:r>
            <a:r>
              <a:rPr lang="en-US" sz="2779" dirty="0" err="1">
                <a:solidFill>
                  <a:schemeClr val="bg1"/>
                </a:solidFill>
                <a:latin typeface="Calibri" pitchFamily="34"/>
                <a:ea typeface="Microsoft YaHei" pitchFamily="2"/>
                <a:cs typeface="Lucida Sans" pitchFamily="2"/>
              </a:rPr>
              <a:t>Moldwin</a:t>
            </a:r>
            <a:endParaRPr lang="en-US" sz="2779" dirty="0">
              <a:solidFill>
                <a:schemeClr val="bg1"/>
              </a:solidFill>
              <a:latin typeface="Calibri" pitchFamily="34"/>
              <a:ea typeface="Microsoft YaHei" pitchFamily="2"/>
              <a:cs typeface="Lucida Sans" pitchFamily="2"/>
            </a:endParaRPr>
          </a:p>
          <a:p>
            <a:pPr hangingPunct="0"/>
            <a:r>
              <a:rPr lang="en-US" sz="2779" dirty="0">
                <a:solidFill>
                  <a:schemeClr val="bg1"/>
                </a:solidFill>
                <a:latin typeface="Calibri" pitchFamily="34"/>
                <a:ea typeface="Microsoft YaHei" pitchFamily="2"/>
                <a:cs typeface="Lucida Sans" pitchFamily="2"/>
              </a:rPr>
              <a:t>The Edmond and Lily </a:t>
            </a:r>
            <a:r>
              <a:rPr lang="en-US" sz="2779" dirty="0" err="1">
                <a:solidFill>
                  <a:schemeClr val="bg1"/>
                </a:solidFill>
                <a:latin typeface="Calibri" pitchFamily="34"/>
                <a:ea typeface="Microsoft YaHei" pitchFamily="2"/>
                <a:cs typeface="Lucida Sans" pitchFamily="2"/>
              </a:rPr>
              <a:t>Safra</a:t>
            </a:r>
            <a:r>
              <a:rPr lang="en-US" sz="2779" dirty="0">
                <a:solidFill>
                  <a:schemeClr val="bg1"/>
                </a:solidFill>
                <a:latin typeface="Calibri" pitchFamily="34"/>
                <a:ea typeface="Microsoft YaHei" pitchFamily="2"/>
                <a:cs typeface="Lucida Sans" pitchFamily="2"/>
              </a:rPr>
              <a:t> Center for Brain Sciences</a:t>
            </a:r>
          </a:p>
          <a:p>
            <a:pPr hangingPunct="0"/>
            <a:r>
              <a:rPr lang="en-US" sz="2779" dirty="0">
                <a:solidFill>
                  <a:schemeClr val="bg1"/>
                </a:solidFill>
                <a:latin typeface="Calibri" pitchFamily="34"/>
                <a:ea typeface="Microsoft YaHei" pitchFamily="2"/>
                <a:cs typeface="Lucida Sans" pitchFamily="2"/>
              </a:rPr>
              <a:t>The Hebrew University of Jerusalem</a:t>
            </a:r>
          </a:p>
          <a:p>
            <a:r>
              <a:rPr lang="en-US" sz="2779" dirty="0">
                <a:solidFill>
                  <a:schemeClr val="bg1"/>
                </a:solidFill>
                <a:latin typeface="Calibri" pitchFamily="34"/>
                <a:ea typeface="Microsoft YaHei" pitchFamily="2"/>
                <a:cs typeface="Lucida Sans" pitchFamily="2"/>
              </a:rPr>
              <a:t>Email: tmoldwin@gmail.com</a:t>
            </a:r>
          </a:p>
          <a:p>
            <a:endParaRPr lang="en-US" sz="2779" dirty="0">
              <a:solidFill>
                <a:srgbClr val="000000"/>
              </a:solidFill>
              <a:latin typeface="Calibri" pitchFamily="34"/>
              <a:ea typeface="Microsoft YaHei" pitchFamily="2"/>
              <a:cs typeface="Lucida Sans" pitchFamily="2"/>
            </a:endParaRPr>
          </a:p>
        </p:txBody>
      </p:sp>
      <p:sp>
        <p:nvSpPr>
          <p:cNvPr id="8" name="TextBox 24">
            <a:extLst>
              <a:ext uri="{FF2B5EF4-FFF2-40B4-BE49-F238E27FC236}">
                <a16:creationId xmlns:a16="http://schemas.microsoft.com/office/drawing/2014/main" id="{EA70207A-CD43-4034-AD18-3703FD49325A}"/>
              </a:ext>
            </a:extLst>
          </p:cNvPr>
          <p:cNvSpPr/>
          <p:nvPr/>
        </p:nvSpPr>
        <p:spPr>
          <a:xfrm>
            <a:off x="561486" y="30875844"/>
            <a:ext cx="2057804" cy="80393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69404" tIns="34702" rIns="69404" bIns="34702" anchor="t" anchorCtr="0" compatLnSpc="0">
            <a:spAutoFit/>
          </a:bodyPr>
          <a:lstStyle/>
          <a:p>
            <a:r>
              <a:rPr lang="en-US" sz="4688" b="1" dirty="0">
                <a:solidFill>
                  <a:schemeClr val="bg1"/>
                </a:solidFill>
                <a:latin typeface="Calibri" pitchFamily="34"/>
                <a:ea typeface="Microsoft YaHei" pitchFamily="2"/>
                <a:cs typeface="Lucida Sans" pitchFamily="2"/>
              </a:rPr>
              <a:t>Contact</a:t>
            </a:r>
          </a:p>
        </p:txBody>
      </p:sp>
      <p:sp>
        <p:nvSpPr>
          <p:cNvPr id="9" name="TextBox 26">
            <a:extLst>
              <a:ext uri="{FF2B5EF4-FFF2-40B4-BE49-F238E27FC236}">
                <a16:creationId xmlns:a16="http://schemas.microsoft.com/office/drawing/2014/main" id="{37F9F7DF-5833-484E-89B2-9098DD68C7F8}"/>
              </a:ext>
            </a:extLst>
          </p:cNvPr>
          <p:cNvSpPr/>
          <p:nvPr/>
        </p:nvSpPr>
        <p:spPr>
          <a:xfrm>
            <a:off x="12711914" y="30832296"/>
            <a:ext cx="2876618" cy="80393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none" lIns="69404" tIns="34702" rIns="69404" bIns="34702" anchor="t" anchorCtr="0" compatLnSpc="0">
            <a:spAutoFit/>
          </a:bodyPr>
          <a:lstStyle/>
          <a:p>
            <a:r>
              <a:rPr lang="en-US" sz="4688" b="1" dirty="0">
                <a:solidFill>
                  <a:schemeClr val="bg1"/>
                </a:solidFill>
                <a:latin typeface="Calibri" pitchFamily="34"/>
                <a:ea typeface="Microsoft YaHei" pitchFamily="2"/>
                <a:cs typeface="Lucida Sans" pitchFamily="2"/>
              </a:rPr>
              <a:t>References</a:t>
            </a:r>
          </a:p>
        </p:txBody>
      </p:sp>
      <p:sp>
        <p:nvSpPr>
          <p:cNvPr id="10" name="Text Box 189">
            <a:extLst>
              <a:ext uri="{FF2B5EF4-FFF2-40B4-BE49-F238E27FC236}">
                <a16:creationId xmlns:a16="http://schemas.microsoft.com/office/drawing/2014/main" id="{5B376066-D399-42E9-A23D-BEE9CD7CB02C}"/>
              </a:ext>
            </a:extLst>
          </p:cNvPr>
          <p:cNvSpPr/>
          <p:nvPr/>
        </p:nvSpPr>
        <p:spPr>
          <a:xfrm>
            <a:off x="1127350" y="7088606"/>
            <a:ext cx="8602683" cy="435060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FFFFFF"/>
          </a:solidFill>
          <a:ln>
            <a:noFill/>
            <a:prstDash val="solid"/>
          </a:ln>
        </p:spPr>
        <p:txBody>
          <a:bodyPr vert="horz" wrap="square" lIns="138808" tIns="138808" rIns="138808" bIns="138808" anchor="t" anchorCtr="0" compatLnSpc="0">
            <a:spAutoFit/>
          </a:bodyPr>
          <a:lstStyle/>
          <a:p>
            <a:r>
              <a:rPr lang="en-US" sz="2000" dirty="0"/>
              <a:t>The perceptron learning algorithm and its multiple-layer extension, the backpropagation algorithm, are the foundations of the present-day machine learning revolution. However, these algorithms utilize a highly simplified mathematical abstraction of a neuron; it is not clear to what extent real biophysical neurons with morphologically-extended nonlinear dendritic trees and conductance-based synapses could realize perceptron-like learning. Here we implemented the perceptron learning algorithm in a realistic biophysical model of a layer 5 cortical pyramidal cell. We tested this biophysical perceptron (BP) on a memorization task, where it needs to correctly binarily classify 100, 1000, or 2000 patterns, and a generalization task, where it should discriminate between two “noisy” patterns. We show that, for most cases, the BP performs these tasks with an accuracy comparable to that of the original perceptron. We concluded that cortical pyramidal neurons can act as powerful classification devices.</a:t>
            </a:r>
          </a:p>
        </p:txBody>
      </p:sp>
      <p:sp>
        <p:nvSpPr>
          <p:cNvPr id="11" name="Rectangle 31">
            <a:extLst>
              <a:ext uri="{FF2B5EF4-FFF2-40B4-BE49-F238E27FC236}">
                <a16:creationId xmlns:a16="http://schemas.microsoft.com/office/drawing/2014/main" id="{2908FADD-BD4B-4541-AD62-60AD03A0CA49}"/>
              </a:ext>
            </a:extLst>
          </p:cNvPr>
          <p:cNvSpPr/>
          <p:nvPr/>
        </p:nvSpPr>
        <p:spPr>
          <a:xfrm>
            <a:off x="1151422" y="6256752"/>
            <a:ext cx="8602683" cy="628701"/>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a:solidFill>
                  <a:srgbClr val="FFFFFF"/>
                </a:solidFill>
                <a:latin typeface="Calibri" pitchFamily="34"/>
                <a:ea typeface="Microsoft YaHei" pitchFamily="2"/>
                <a:cs typeface="Lucida Sans" pitchFamily="2"/>
              </a:rPr>
              <a:t>Abstract</a:t>
            </a:r>
          </a:p>
        </p:txBody>
      </p:sp>
      <p:sp>
        <p:nvSpPr>
          <p:cNvPr id="12" name="Rectangle 32">
            <a:extLst>
              <a:ext uri="{FF2B5EF4-FFF2-40B4-BE49-F238E27FC236}">
                <a16:creationId xmlns:a16="http://schemas.microsoft.com/office/drawing/2014/main" id="{432811BA-5176-4113-AAA7-531A26AECA12}"/>
              </a:ext>
            </a:extLst>
          </p:cNvPr>
          <p:cNvSpPr/>
          <p:nvPr/>
        </p:nvSpPr>
        <p:spPr>
          <a:xfrm>
            <a:off x="1262080" y="22536497"/>
            <a:ext cx="8602683" cy="78413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dirty="0">
                <a:solidFill>
                  <a:srgbClr val="FFFFFF"/>
                </a:solidFill>
                <a:latin typeface="Calibri" pitchFamily="34"/>
                <a:ea typeface="Microsoft YaHei" pitchFamily="2"/>
                <a:cs typeface="Lucida Sans" pitchFamily="2"/>
              </a:rPr>
              <a:t>The Perceptron Learning Algorithm</a:t>
            </a:r>
          </a:p>
        </p:txBody>
      </p:sp>
      <p:sp>
        <p:nvSpPr>
          <p:cNvPr id="15" name="Rectangle 32">
            <a:extLst>
              <a:ext uri="{FF2B5EF4-FFF2-40B4-BE49-F238E27FC236}">
                <a16:creationId xmlns:a16="http://schemas.microsoft.com/office/drawing/2014/main" id="{C9623FA9-FD37-4ABA-916E-9F9A0464B5F2}"/>
              </a:ext>
            </a:extLst>
          </p:cNvPr>
          <p:cNvSpPr/>
          <p:nvPr/>
        </p:nvSpPr>
        <p:spPr>
          <a:xfrm>
            <a:off x="1151422" y="11618572"/>
            <a:ext cx="8602683" cy="538113"/>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a:solidFill>
                  <a:srgbClr val="FFFFFF"/>
                </a:solidFill>
                <a:latin typeface="Calibri" pitchFamily="34"/>
                <a:ea typeface="Microsoft YaHei" pitchFamily="2"/>
                <a:cs typeface="Lucida Sans" pitchFamily="2"/>
              </a:rPr>
              <a:t>The Perceptron</a:t>
            </a:r>
          </a:p>
        </p:txBody>
      </p:sp>
      <p:sp>
        <p:nvSpPr>
          <p:cNvPr id="19" name="Rectangle 34">
            <a:extLst>
              <a:ext uri="{FF2B5EF4-FFF2-40B4-BE49-F238E27FC236}">
                <a16:creationId xmlns:a16="http://schemas.microsoft.com/office/drawing/2014/main" id="{869D6EA7-31EF-46EE-9CE3-539E5F213355}"/>
              </a:ext>
            </a:extLst>
          </p:cNvPr>
          <p:cNvSpPr/>
          <p:nvPr/>
        </p:nvSpPr>
        <p:spPr>
          <a:xfrm>
            <a:off x="20010922" y="25093073"/>
            <a:ext cx="9703772" cy="61655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dirty="0">
                <a:solidFill>
                  <a:srgbClr val="FFFFFF"/>
                </a:solidFill>
                <a:latin typeface="Calibri" pitchFamily="34"/>
                <a:ea typeface="Microsoft YaHei" pitchFamily="2"/>
                <a:cs typeface="Lucida Sans" pitchFamily="2"/>
              </a:rPr>
              <a:t>Conclusions</a:t>
            </a:r>
          </a:p>
        </p:txBody>
      </p:sp>
      <p:sp>
        <p:nvSpPr>
          <p:cNvPr id="20" name="TextBox 19">
            <a:extLst>
              <a:ext uri="{FF2B5EF4-FFF2-40B4-BE49-F238E27FC236}">
                <a16:creationId xmlns:a16="http://schemas.microsoft.com/office/drawing/2014/main" id="{E1CA3C21-4A73-4D50-AB08-00BE027BB5C8}"/>
              </a:ext>
            </a:extLst>
          </p:cNvPr>
          <p:cNvSpPr txBox="1"/>
          <p:nvPr/>
        </p:nvSpPr>
        <p:spPr>
          <a:xfrm>
            <a:off x="20010922" y="25848078"/>
            <a:ext cx="9703772" cy="4209585"/>
          </a:xfrm>
          <a:prstGeom prst="rect">
            <a:avLst/>
          </a:prstGeom>
          <a:noFill/>
          <a:ln>
            <a:noFill/>
          </a:ln>
        </p:spPr>
        <p:txBody>
          <a:bodyPr vert="horz" wrap="square" lIns="78158" tIns="39079" rIns="78158" bIns="39079" anchorCtr="0" compatLnSpc="0">
            <a:normAutofit/>
          </a:bodyPr>
          <a:lstStyle/>
          <a:p>
            <a:pPr algn="just" hangingPunct="0">
              <a:spcBef>
                <a:spcPts val="492"/>
              </a:spcBef>
              <a:spcAft>
                <a:spcPts val="492"/>
              </a:spcAft>
              <a:buSzPct val="100000"/>
              <a:buAutoNum type="arabicPeriod"/>
            </a:pPr>
            <a:r>
              <a:rPr lang="en-US" sz="2000" dirty="0">
                <a:solidFill>
                  <a:srgbClr val="000000"/>
                </a:solidFill>
                <a:latin typeface="Calibri" panose="020F0502020204030204" pitchFamily="34" charset="0"/>
                <a:ea typeface="Microsoft YaHei" pitchFamily="2"/>
                <a:cs typeface="Lucida Sans" pitchFamily="2"/>
              </a:rPr>
              <a:t> It is possible to implement the perceptron learning algorithm in a detailed L5PC model.</a:t>
            </a:r>
          </a:p>
          <a:p>
            <a:pPr algn="just" hangingPunct="0">
              <a:spcBef>
                <a:spcPts val="492"/>
              </a:spcBef>
              <a:spcAft>
                <a:spcPts val="492"/>
              </a:spcAft>
              <a:buSzPct val="100000"/>
              <a:buAutoNum type="arabicPeriod"/>
            </a:pPr>
            <a:r>
              <a:rPr lang="en-US" sz="2000" dirty="0">
                <a:solidFill>
                  <a:srgbClr val="000000"/>
                </a:solidFill>
                <a:latin typeface="Calibri" panose="020F0502020204030204" pitchFamily="34" charset="0"/>
                <a:ea typeface="Microsoft YaHei" pitchFamily="2"/>
                <a:cs typeface="Lucida Sans" pitchFamily="2"/>
              </a:rPr>
              <a:t>Placing all synapses on the apical tuft reduces the memorization capacity of the perceptron, although it does not seem to have a major effect on its robustness to noise in a generalization task.</a:t>
            </a:r>
          </a:p>
          <a:p>
            <a:pPr algn="just" hangingPunct="0">
              <a:spcBef>
                <a:spcPts val="492"/>
              </a:spcBef>
              <a:spcAft>
                <a:spcPts val="492"/>
              </a:spcAft>
              <a:buSzPct val="100000"/>
              <a:buAutoNum type="arabicPeriod"/>
            </a:pPr>
            <a:r>
              <a:rPr lang="en-US" sz="2000" dirty="0">
                <a:solidFill>
                  <a:srgbClr val="000000"/>
                </a:solidFill>
                <a:latin typeface="Calibri" panose="020F0502020204030204" pitchFamily="34" charset="0"/>
                <a:ea typeface="Microsoft YaHei" pitchFamily="2"/>
                <a:cs typeface="Lucida Sans" pitchFamily="2"/>
              </a:rPr>
              <a:t> The reason for the reduced memorization capacity in the apical tuft placement condition is due to the maximum effective weights of the apical tuft synapses. Because the local voltage is ‘capped’ by the sodium reversal potential, the maximum voltage that the soma ‘sees’ from a distal location – the maximum effective synaptic weight (MESW) - depends on the sodium reversal potential and the attenuation factor.</a:t>
            </a:r>
          </a:p>
          <a:p>
            <a:pPr algn="just" hangingPunct="0">
              <a:spcBef>
                <a:spcPts val="492"/>
              </a:spcBef>
              <a:spcAft>
                <a:spcPts val="492"/>
              </a:spcAft>
              <a:buSzPct val="100000"/>
              <a:buAutoNum type="arabicPeriod"/>
            </a:pPr>
            <a:r>
              <a:rPr lang="en-US" sz="2000" dirty="0">
                <a:solidFill>
                  <a:srgbClr val="000000"/>
                </a:solidFill>
                <a:latin typeface="Calibri" panose="020F0502020204030204" pitchFamily="34" charset="0"/>
                <a:ea typeface="Microsoft YaHei" pitchFamily="2"/>
                <a:cs typeface="Lucida Sans" pitchFamily="2"/>
              </a:rPr>
              <a:t>  It may be possible to increase capacity by treating different regions of the neuron as separate computational units that use dendritic nonlinearities to communicate their outputs to each other.</a:t>
            </a:r>
          </a:p>
        </p:txBody>
      </p:sp>
      <p:sp>
        <p:nvSpPr>
          <p:cNvPr id="22" name="Rectangle 34">
            <a:extLst>
              <a:ext uri="{FF2B5EF4-FFF2-40B4-BE49-F238E27FC236}">
                <a16:creationId xmlns:a16="http://schemas.microsoft.com/office/drawing/2014/main" id="{8DBBF187-D1BB-422B-979C-1EB8C010256B}"/>
              </a:ext>
            </a:extLst>
          </p:cNvPr>
          <p:cNvSpPr/>
          <p:nvPr/>
        </p:nvSpPr>
        <p:spPr>
          <a:xfrm>
            <a:off x="20241019" y="13792260"/>
            <a:ext cx="9266400" cy="55390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dirty="0">
                <a:solidFill>
                  <a:srgbClr val="FFFFFF"/>
                </a:solidFill>
                <a:latin typeface="Calibri" pitchFamily="34"/>
                <a:ea typeface="Microsoft YaHei" pitchFamily="2"/>
                <a:cs typeface="Lucida Sans" pitchFamily="2"/>
              </a:rPr>
              <a:t>Generalization Task Performance</a:t>
            </a:r>
          </a:p>
        </p:txBody>
      </p:sp>
      <p:sp>
        <p:nvSpPr>
          <p:cNvPr id="24" name="TextBox 23">
            <a:extLst>
              <a:ext uri="{FF2B5EF4-FFF2-40B4-BE49-F238E27FC236}">
                <a16:creationId xmlns:a16="http://schemas.microsoft.com/office/drawing/2014/main" id="{C7164AD1-B406-4D4A-8585-831112A06A30}"/>
              </a:ext>
            </a:extLst>
          </p:cNvPr>
          <p:cNvSpPr/>
          <p:nvPr/>
        </p:nvSpPr>
        <p:spPr>
          <a:xfrm>
            <a:off x="18201723" y="36970636"/>
            <a:ext cx="140228" cy="8313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B9CDE5"/>
          </a:solidFill>
          <a:ln>
            <a:noFill/>
            <a:prstDash val="solid"/>
          </a:ln>
        </p:spPr>
        <p:txBody>
          <a:bodyPr vert="horz" wrap="none" lIns="69404" tIns="34702" rIns="69404" bIns="34702" anchor="t" anchorCtr="0" compatLnSpc="0">
            <a:spAutoFit/>
          </a:bodyPr>
          <a:lstStyle/>
          <a:p>
            <a:endParaRPr lang="en-US" sz="2084">
              <a:solidFill>
                <a:srgbClr val="000000"/>
              </a:solidFill>
              <a:latin typeface="Calibri" pitchFamily="34"/>
              <a:ea typeface="Microsoft YaHei" pitchFamily="2"/>
              <a:cs typeface="Lucida Sans" pitchFamily="2"/>
            </a:endParaRPr>
          </a:p>
          <a:p>
            <a:endParaRPr lang="en-US" sz="2779">
              <a:solidFill>
                <a:srgbClr val="000000"/>
              </a:solidFill>
              <a:latin typeface="Calibri" pitchFamily="34"/>
              <a:ea typeface="Microsoft YaHei" pitchFamily="2"/>
              <a:cs typeface="Lucida Sans" pitchFamily="2"/>
            </a:endParaRPr>
          </a:p>
        </p:txBody>
      </p:sp>
      <p:sp>
        <p:nvSpPr>
          <p:cNvPr id="25" name="TextBox 24">
            <a:extLst>
              <a:ext uri="{FF2B5EF4-FFF2-40B4-BE49-F238E27FC236}">
                <a16:creationId xmlns:a16="http://schemas.microsoft.com/office/drawing/2014/main" id="{6DEAB2D1-6999-4CFF-A031-1520A7752572}"/>
              </a:ext>
            </a:extLst>
          </p:cNvPr>
          <p:cNvSpPr txBox="1"/>
          <p:nvPr/>
        </p:nvSpPr>
        <p:spPr>
          <a:xfrm>
            <a:off x="12705347" y="31701187"/>
            <a:ext cx="17311036" cy="2765083"/>
          </a:xfrm>
          <a:prstGeom prst="rect">
            <a:avLst/>
          </a:prstGeom>
          <a:noFill/>
          <a:ln>
            <a:noFill/>
          </a:ln>
        </p:spPr>
        <p:txBody>
          <a:bodyPr vert="horz" wrap="square" lIns="78158" tIns="39079" rIns="78158" bIns="39079" anchorCtr="0" compatLnSpc="0"/>
          <a:lstStyle/>
          <a:p>
            <a:pPr>
              <a:buSzPct val="100000"/>
              <a:buAutoNum type="arabicParenR"/>
            </a:pPr>
            <a:r>
              <a:rPr lang="en-US" sz="2084" dirty="0">
                <a:solidFill>
                  <a:schemeClr val="bg1"/>
                </a:solidFill>
                <a:latin typeface="Calibri" pitchFamily="34"/>
                <a:ea typeface="Microsoft YaHei" pitchFamily="2"/>
                <a:cs typeface="Lucida Sans" pitchFamily="2"/>
              </a:rPr>
              <a:t>Rosenblatt, F. (1958). The perceptron: A probabilistic model for information storage and organization in the brain. Psychological Review, 65(6), 386–408.</a:t>
            </a:r>
          </a:p>
          <a:p>
            <a:pPr>
              <a:buSzPct val="100000"/>
              <a:buAutoNum type="arabicParenR"/>
            </a:pPr>
            <a:r>
              <a:rPr lang="en-US" sz="2084" dirty="0">
                <a:solidFill>
                  <a:schemeClr val="bg1"/>
                </a:solidFill>
                <a:latin typeface="Calibri" pitchFamily="34"/>
                <a:ea typeface="Microsoft YaHei" pitchFamily="2"/>
                <a:cs typeface="Lucida Sans" pitchFamily="2"/>
              </a:rPr>
              <a:t>Hay, E., Hill, S., </a:t>
            </a:r>
            <a:r>
              <a:rPr lang="en-US" sz="2084" dirty="0" err="1">
                <a:solidFill>
                  <a:schemeClr val="bg1"/>
                </a:solidFill>
                <a:latin typeface="Calibri" pitchFamily="34"/>
                <a:ea typeface="Microsoft YaHei" pitchFamily="2"/>
                <a:cs typeface="Lucida Sans" pitchFamily="2"/>
              </a:rPr>
              <a:t>Schürmann</a:t>
            </a:r>
            <a:r>
              <a:rPr lang="en-US" sz="2084" dirty="0">
                <a:solidFill>
                  <a:schemeClr val="bg1"/>
                </a:solidFill>
                <a:latin typeface="Calibri" pitchFamily="34"/>
                <a:ea typeface="Microsoft YaHei" pitchFamily="2"/>
                <a:cs typeface="Lucida Sans" pitchFamily="2"/>
              </a:rPr>
              <a:t>, F., </a:t>
            </a:r>
            <a:r>
              <a:rPr lang="en-US" sz="2084" dirty="0" err="1">
                <a:solidFill>
                  <a:schemeClr val="bg1"/>
                </a:solidFill>
                <a:latin typeface="Calibri" pitchFamily="34"/>
                <a:ea typeface="Microsoft YaHei" pitchFamily="2"/>
                <a:cs typeface="Lucida Sans" pitchFamily="2"/>
              </a:rPr>
              <a:t>Markram</a:t>
            </a:r>
            <a:r>
              <a:rPr lang="en-US" sz="2084" dirty="0">
                <a:solidFill>
                  <a:schemeClr val="bg1"/>
                </a:solidFill>
                <a:latin typeface="Calibri" pitchFamily="34"/>
                <a:ea typeface="Microsoft YaHei" pitchFamily="2"/>
                <a:cs typeface="Lucida Sans" pitchFamily="2"/>
              </a:rPr>
              <a:t>, H., &amp; </a:t>
            </a:r>
            <a:r>
              <a:rPr lang="en-US" sz="2084" dirty="0" err="1">
                <a:solidFill>
                  <a:schemeClr val="bg1"/>
                </a:solidFill>
                <a:latin typeface="Calibri" pitchFamily="34"/>
                <a:ea typeface="Microsoft YaHei" pitchFamily="2"/>
                <a:cs typeface="Lucida Sans" pitchFamily="2"/>
              </a:rPr>
              <a:t>Segev</a:t>
            </a:r>
            <a:r>
              <a:rPr lang="en-US" sz="2084" dirty="0">
                <a:solidFill>
                  <a:schemeClr val="bg1"/>
                </a:solidFill>
                <a:latin typeface="Calibri" pitchFamily="34"/>
                <a:ea typeface="Microsoft YaHei" pitchFamily="2"/>
                <a:cs typeface="Lucida Sans" pitchFamily="2"/>
              </a:rPr>
              <a:t>, I. (2011). Models of neocortical layer 5b pyramidal cells capturing a wide range of dendritic and </a:t>
            </a:r>
            <a:r>
              <a:rPr lang="en-US" sz="2084" dirty="0" err="1">
                <a:solidFill>
                  <a:schemeClr val="bg1"/>
                </a:solidFill>
                <a:latin typeface="Calibri" pitchFamily="34"/>
                <a:ea typeface="Microsoft YaHei" pitchFamily="2"/>
                <a:cs typeface="Lucida Sans" pitchFamily="2"/>
              </a:rPr>
              <a:t>perisomatic</a:t>
            </a:r>
            <a:r>
              <a:rPr lang="en-US" sz="2084" dirty="0">
                <a:solidFill>
                  <a:schemeClr val="bg1"/>
                </a:solidFill>
                <a:latin typeface="Calibri" pitchFamily="34"/>
                <a:ea typeface="Microsoft YaHei" pitchFamily="2"/>
                <a:cs typeface="Lucida Sans" pitchFamily="2"/>
              </a:rPr>
              <a:t> active properties. </a:t>
            </a:r>
            <a:r>
              <a:rPr lang="en-US" sz="2084" dirty="0" err="1">
                <a:solidFill>
                  <a:schemeClr val="bg1"/>
                </a:solidFill>
                <a:latin typeface="Calibri" pitchFamily="34"/>
                <a:ea typeface="Microsoft YaHei" pitchFamily="2"/>
                <a:cs typeface="Lucida Sans" pitchFamily="2"/>
              </a:rPr>
              <a:t>PLoS</a:t>
            </a:r>
            <a:r>
              <a:rPr lang="en-US" sz="2084" dirty="0">
                <a:solidFill>
                  <a:schemeClr val="bg1"/>
                </a:solidFill>
                <a:latin typeface="Calibri" pitchFamily="34"/>
                <a:ea typeface="Microsoft YaHei" pitchFamily="2"/>
                <a:cs typeface="Lucida Sans" pitchFamily="2"/>
              </a:rPr>
              <a:t> Computational Biology, 7(7). Amit, D. J., Wong, K. Y. M., &amp; Campbell, C. (1999). Perceptron learning with sign-constrained weights. Journal of Physics A: Mathematical and General, 22(12), 2039–2045.</a:t>
            </a:r>
          </a:p>
          <a:p>
            <a:pPr>
              <a:buSzPct val="100000"/>
              <a:buAutoNum type="arabicParenR"/>
            </a:pPr>
            <a:r>
              <a:rPr lang="en-US" sz="2084" dirty="0">
                <a:solidFill>
                  <a:schemeClr val="bg1"/>
                </a:solidFill>
                <a:latin typeface="Calibri" pitchFamily="34"/>
                <a:ea typeface="Microsoft YaHei" pitchFamily="2"/>
                <a:cs typeface="Lucida Sans" pitchFamily="2"/>
              </a:rPr>
              <a:t>Amit, D. J., Wong, K. Y. M., &amp; Campbell, C. (1999). Perceptron learning with sign-constrained weights. Journal of Physics A: Mathematical and General, 22(12), 2039–2045.</a:t>
            </a:r>
          </a:p>
          <a:p>
            <a:pPr>
              <a:buSzPct val="100000"/>
              <a:buAutoNum type="arabicParenR"/>
            </a:pPr>
            <a:r>
              <a:rPr lang="en-US" sz="2084" dirty="0" err="1">
                <a:solidFill>
                  <a:schemeClr val="bg1"/>
                </a:solidFill>
                <a:latin typeface="Calibri" pitchFamily="34"/>
                <a:ea typeface="Microsoft YaHei" pitchFamily="2"/>
                <a:cs typeface="Lucida Sans" pitchFamily="2"/>
              </a:rPr>
              <a:t>Chapeton</a:t>
            </a:r>
            <a:r>
              <a:rPr lang="en-US" sz="2084" dirty="0">
                <a:solidFill>
                  <a:schemeClr val="bg1"/>
                </a:solidFill>
                <a:latin typeface="Calibri" pitchFamily="34"/>
                <a:ea typeface="Microsoft YaHei" pitchFamily="2"/>
                <a:cs typeface="Lucida Sans" pitchFamily="2"/>
              </a:rPr>
              <a:t>, J., Fares, T., </a:t>
            </a:r>
            <a:r>
              <a:rPr lang="en-US" sz="2084" dirty="0" err="1">
                <a:solidFill>
                  <a:schemeClr val="bg1"/>
                </a:solidFill>
                <a:latin typeface="Calibri" pitchFamily="34"/>
                <a:ea typeface="Microsoft YaHei" pitchFamily="2"/>
                <a:cs typeface="Lucida Sans" pitchFamily="2"/>
              </a:rPr>
              <a:t>LaSota</a:t>
            </a:r>
            <a:r>
              <a:rPr lang="en-US" sz="2084" dirty="0">
                <a:solidFill>
                  <a:schemeClr val="bg1"/>
                </a:solidFill>
                <a:latin typeface="Calibri" pitchFamily="34"/>
                <a:ea typeface="Microsoft YaHei" pitchFamily="2"/>
                <a:cs typeface="Lucida Sans" pitchFamily="2"/>
              </a:rPr>
              <a:t>, D., &amp; </a:t>
            </a:r>
            <a:r>
              <a:rPr lang="en-US" sz="2084" dirty="0" err="1">
                <a:solidFill>
                  <a:schemeClr val="bg1"/>
                </a:solidFill>
                <a:latin typeface="Calibri" pitchFamily="34"/>
                <a:ea typeface="Microsoft YaHei" pitchFamily="2"/>
                <a:cs typeface="Lucida Sans" pitchFamily="2"/>
              </a:rPr>
              <a:t>Stepanyants</a:t>
            </a:r>
            <a:r>
              <a:rPr lang="en-US" sz="2084" dirty="0">
                <a:solidFill>
                  <a:schemeClr val="bg1"/>
                </a:solidFill>
                <a:latin typeface="Calibri" pitchFamily="34"/>
                <a:ea typeface="Microsoft YaHei" pitchFamily="2"/>
                <a:cs typeface="Lucida Sans" pitchFamily="2"/>
              </a:rPr>
              <a:t>, A. (2012). Efficient associative memory storage in cortical circuits of inhibitory and excitatory neurons. Proceedings of the National Academy of Sciences of the United States of America, 109(51), E3614-22.</a:t>
            </a:r>
          </a:p>
        </p:txBody>
      </p:sp>
      <p:pic>
        <p:nvPicPr>
          <p:cNvPr id="26" name="Picture 25">
            <a:extLst>
              <a:ext uri="{FF2B5EF4-FFF2-40B4-BE49-F238E27FC236}">
                <a16:creationId xmlns:a16="http://schemas.microsoft.com/office/drawing/2014/main" id="{72E6FA25-4913-4BAE-B962-E9A2D4808082}"/>
              </a:ext>
            </a:extLst>
          </p:cNvPr>
          <p:cNvPicPr>
            <a:picLocks noChangeAspect="1"/>
          </p:cNvPicPr>
          <p:nvPr/>
        </p:nvPicPr>
        <p:blipFill>
          <a:blip r:embed="rId4">
            <a:lum/>
            <a:alphaModFix/>
          </a:blip>
          <a:srcRect/>
          <a:stretch>
            <a:fillRect/>
          </a:stretch>
        </p:blipFill>
        <p:spPr>
          <a:xfrm>
            <a:off x="271990" y="270315"/>
            <a:ext cx="2302844" cy="2054302"/>
          </a:xfrm>
          <a:prstGeom prst="rect">
            <a:avLst/>
          </a:prstGeom>
          <a:noFill/>
          <a:ln>
            <a:noFill/>
          </a:ln>
        </p:spPr>
      </p:pic>
      <p:pic>
        <p:nvPicPr>
          <p:cNvPr id="27" name="Picture 26">
            <a:extLst>
              <a:ext uri="{FF2B5EF4-FFF2-40B4-BE49-F238E27FC236}">
                <a16:creationId xmlns:a16="http://schemas.microsoft.com/office/drawing/2014/main" id="{D87E56C7-D2E6-462E-A315-E2DF36FBECCD}"/>
              </a:ext>
            </a:extLst>
          </p:cNvPr>
          <p:cNvPicPr>
            <a:picLocks noChangeAspect="1"/>
          </p:cNvPicPr>
          <p:nvPr/>
        </p:nvPicPr>
        <p:blipFill>
          <a:blip r:embed="rId5">
            <a:lum/>
            <a:alphaModFix/>
          </a:blip>
          <a:srcRect/>
          <a:stretch>
            <a:fillRect/>
          </a:stretch>
        </p:blipFill>
        <p:spPr>
          <a:xfrm>
            <a:off x="28688639" y="294057"/>
            <a:ext cx="1279601" cy="2047737"/>
          </a:xfrm>
          <a:prstGeom prst="rect">
            <a:avLst/>
          </a:prstGeom>
          <a:noFill/>
          <a:ln>
            <a:noFill/>
          </a:ln>
        </p:spPr>
      </p:pic>
      <p:pic>
        <p:nvPicPr>
          <p:cNvPr id="89" name="Picture 88">
            <a:extLst>
              <a:ext uri="{FF2B5EF4-FFF2-40B4-BE49-F238E27FC236}">
                <a16:creationId xmlns:a16="http://schemas.microsoft.com/office/drawing/2014/main" id="{443D060A-BD3C-46F2-9877-7E0D0BCEB274}"/>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31247" y="12215198"/>
            <a:ext cx="7843031" cy="7037951"/>
          </a:xfrm>
          <a:prstGeom prst="rect">
            <a:avLst/>
          </a:prstGeom>
          <a:noFill/>
          <a:ln>
            <a:noFill/>
          </a:ln>
        </p:spPr>
      </p:pic>
      <p:sp>
        <p:nvSpPr>
          <p:cNvPr id="90" name="Rectangle 32">
            <a:extLst>
              <a:ext uri="{FF2B5EF4-FFF2-40B4-BE49-F238E27FC236}">
                <a16:creationId xmlns:a16="http://schemas.microsoft.com/office/drawing/2014/main" id="{2D44F2B1-5C15-456F-92E1-CBC746E8A7D4}"/>
              </a:ext>
            </a:extLst>
          </p:cNvPr>
          <p:cNvSpPr/>
          <p:nvPr/>
        </p:nvSpPr>
        <p:spPr>
          <a:xfrm>
            <a:off x="10709745" y="6251864"/>
            <a:ext cx="8602683" cy="57004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dirty="0">
                <a:solidFill>
                  <a:srgbClr val="FFFFFF"/>
                </a:solidFill>
                <a:latin typeface="Calibri" pitchFamily="34"/>
                <a:ea typeface="Microsoft YaHei" pitchFamily="2"/>
                <a:cs typeface="Lucida Sans" pitchFamily="2"/>
              </a:rPr>
              <a:t>Memorization Task Performance</a:t>
            </a:r>
          </a:p>
        </p:txBody>
      </p:sp>
      <p:sp>
        <p:nvSpPr>
          <p:cNvPr id="93" name="Rectangle 32">
            <a:extLst>
              <a:ext uri="{FF2B5EF4-FFF2-40B4-BE49-F238E27FC236}">
                <a16:creationId xmlns:a16="http://schemas.microsoft.com/office/drawing/2014/main" id="{096A218B-F4CD-4C17-8F5F-83D5A0E8689A}"/>
              </a:ext>
            </a:extLst>
          </p:cNvPr>
          <p:cNvSpPr/>
          <p:nvPr/>
        </p:nvSpPr>
        <p:spPr>
          <a:xfrm>
            <a:off x="10620119" y="19735883"/>
            <a:ext cx="8705932" cy="646836"/>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dirty="0">
                <a:solidFill>
                  <a:srgbClr val="FFFFFF"/>
                </a:solidFill>
                <a:latin typeface="Calibri" pitchFamily="34"/>
                <a:ea typeface="Microsoft YaHei" pitchFamily="2"/>
                <a:cs typeface="Lucida Sans" pitchFamily="2"/>
              </a:rPr>
              <a:t>Maximum Effective Synaptic Weights</a:t>
            </a:r>
          </a:p>
        </p:txBody>
      </p:sp>
      <p:pic>
        <p:nvPicPr>
          <p:cNvPr id="95" name="Picture 94">
            <a:extLst>
              <a:ext uri="{FF2B5EF4-FFF2-40B4-BE49-F238E27FC236}">
                <a16:creationId xmlns:a16="http://schemas.microsoft.com/office/drawing/2014/main" id="{089F18E4-F604-4C5C-85F4-AA3D6019326F}"/>
              </a:ext>
            </a:extLst>
          </p:cNvPr>
          <p:cNvPicPr/>
          <p:nvPr/>
        </p:nvPicPr>
        <p:blipFill rotWithShape="1">
          <a:blip r:embed="rId7" cstate="print">
            <a:extLst>
              <a:ext uri="{28A0092B-C50C-407E-A947-70E740481C1C}">
                <a14:useLocalDpi xmlns:a14="http://schemas.microsoft.com/office/drawing/2010/main" val="0"/>
              </a:ext>
            </a:extLst>
          </a:blip>
          <a:srcRect l="-1366" t="6139" r="1366" b="10808"/>
          <a:stretch/>
        </p:blipFill>
        <p:spPr bwMode="auto">
          <a:xfrm>
            <a:off x="11612834" y="20501284"/>
            <a:ext cx="6823748" cy="6438172"/>
          </a:xfrm>
          <a:prstGeom prst="rect">
            <a:avLst/>
          </a:prstGeom>
          <a:ln>
            <a:noFill/>
          </a:ln>
          <a:extLst>
            <a:ext uri="{53640926-AAD7-44D8-BBD7-CCE9431645EC}">
              <a14:shadowObscured xmlns:a14="http://schemas.microsoft.com/office/drawing/2010/main"/>
            </a:ext>
          </a:extLst>
        </p:spPr>
      </p:pic>
      <p:sp>
        <p:nvSpPr>
          <p:cNvPr id="96" name="Rectangle 34">
            <a:extLst>
              <a:ext uri="{FF2B5EF4-FFF2-40B4-BE49-F238E27FC236}">
                <a16:creationId xmlns:a16="http://schemas.microsoft.com/office/drawing/2014/main" id="{A75C1A3A-7786-4A45-997D-03A14D77A836}"/>
              </a:ext>
            </a:extLst>
          </p:cNvPr>
          <p:cNvSpPr/>
          <p:nvPr/>
        </p:nvSpPr>
        <p:spPr>
          <a:xfrm>
            <a:off x="20216459" y="6297632"/>
            <a:ext cx="9703772" cy="61655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376092"/>
          </a:solidFill>
          <a:ln w="12600">
            <a:solidFill>
              <a:srgbClr val="3A5F8B"/>
            </a:solidFill>
            <a:prstDash val="solid"/>
          </a:ln>
        </p:spPr>
        <p:txBody>
          <a:bodyPr vert="horz" wrap="square" lIns="69404" tIns="34702" rIns="69404" bIns="34702" anchor="ctr" anchorCtr="0" compatLnSpc="0">
            <a:noAutofit/>
          </a:bodyPr>
          <a:lstStyle/>
          <a:p>
            <a:pPr algn="ctr"/>
            <a:r>
              <a:rPr lang="en-US" sz="4000" b="1" dirty="0">
                <a:solidFill>
                  <a:srgbClr val="FFFFFF"/>
                </a:solidFill>
                <a:latin typeface="Calibri" pitchFamily="34"/>
                <a:ea typeface="Microsoft YaHei" pitchFamily="2"/>
                <a:cs typeface="Lucida Sans" pitchFamily="2"/>
              </a:rPr>
              <a:t>Generalization Task</a:t>
            </a:r>
          </a:p>
        </p:txBody>
      </p:sp>
      <p:pic>
        <p:nvPicPr>
          <p:cNvPr id="97" name="Picture 96">
            <a:extLst>
              <a:ext uri="{FF2B5EF4-FFF2-40B4-BE49-F238E27FC236}">
                <a16:creationId xmlns:a16="http://schemas.microsoft.com/office/drawing/2014/main" id="{59BC1BD3-D26C-4384-98F9-5252799C4F93}"/>
              </a:ext>
            </a:extLst>
          </p:cNvPr>
          <p:cNvPicPr/>
          <p:nvPr/>
        </p:nvPicPr>
        <p:blipFill>
          <a:blip r:embed="rId8" cstate="print">
            <a:extLst>
              <a:ext uri="{28A0092B-C50C-407E-A947-70E740481C1C}">
                <a14:useLocalDpi xmlns:a14="http://schemas.microsoft.com/office/drawing/2010/main" val="0"/>
              </a:ext>
            </a:extLst>
          </a:blip>
          <a:stretch>
            <a:fillRect/>
          </a:stretch>
        </p:blipFill>
        <p:spPr bwMode="auto">
          <a:xfrm>
            <a:off x="20647895" y="7000969"/>
            <a:ext cx="8602683" cy="3435208"/>
          </a:xfrm>
          <a:prstGeom prst="rect">
            <a:avLst/>
          </a:prstGeom>
          <a:ln>
            <a:noFill/>
          </a:ln>
          <a:extLst>
            <a:ext uri="{53640926-AAD7-44D8-BBD7-CCE9431645EC}">
              <a14:shadowObscured xmlns:a14="http://schemas.microsoft.com/office/drawing/2010/main"/>
            </a:ext>
          </a:extLst>
        </p:spPr>
      </p:pic>
      <p:pic>
        <p:nvPicPr>
          <p:cNvPr id="98" name="Picture 97">
            <a:extLst>
              <a:ext uri="{FF2B5EF4-FFF2-40B4-BE49-F238E27FC236}">
                <a16:creationId xmlns:a16="http://schemas.microsoft.com/office/drawing/2014/main" id="{8AC0B612-0AFE-4B3B-A609-773C1DF1ACEE}"/>
              </a:ext>
            </a:extLst>
          </p:cNvPr>
          <p:cNvPicPr/>
          <p:nvPr/>
        </p:nvPicPr>
        <p:blipFill>
          <a:blip r:embed="rId9">
            <a:extLst>
              <a:ext uri="{28A0092B-C50C-407E-A947-70E740481C1C}">
                <a14:useLocalDpi xmlns:a14="http://schemas.microsoft.com/office/drawing/2010/main" val="0"/>
              </a:ext>
            </a:extLst>
          </a:blip>
          <a:stretch>
            <a:fillRect/>
          </a:stretch>
        </p:blipFill>
        <p:spPr>
          <a:xfrm>
            <a:off x="20310439" y="14696167"/>
            <a:ext cx="9196980" cy="6161436"/>
          </a:xfrm>
          <a:prstGeom prst="rect">
            <a:avLst/>
          </a:prstGeom>
        </p:spPr>
      </p:pic>
      <p:sp>
        <p:nvSpPr>
          <p:cNvPr id="64" name="Rectangle 63">
            <a:extLst>
              <a:ext uri="{FF2B5EF4-FFF2-40B4-BE49-F238E27FC236}">
                <a16:creationId xmlns:a16="http://schemas.microsoft.com/office/drawing/2014/main" id="{BFAC007A-85C1-41D6-BA1F-DE497C6DF6CA}"/>
              </a:ext>
            </a:extLst>
          </p:cNvPr>
          <p:cNvSpPr/>
          <p:nvPr/>
        </p:nvSpPr>
        <p:spPr>
          <a:xfrm>
            <a:off x="10647167" y="14013826"/>
            <a:ext cx="8705932" cy="5324535"/>
          </a:xfrm>
          <a:prstGeom prst="rect">
            <a:avLst/>
          </a:prstGeom>
        </p:spPr>
        <p:txBody>
          <a:bodyPr wrap="square">
            <a:spAutoFit/>
          </a:bodyPr>
          <a:lstStyle/>
          <a:p>
            <a:pPr algn="just"/>
            <a:r>
              <a:rPr lang="en-US" sz="2000" dirty="0">
                <a:ea typeface="Arial" panose="020B0604020202020204" pitchFamily="34" charset="0"/>
              </a:rPr>
              <a:t>(A) Learning curves for the memorization task, in which a neuron with 1000 synapses had to classify patterns (half of which should produce a spike, half shouldn’t) in the fully active L5PC perceptron and in an M&amp;P perceptron for different numbers of patterns  (P, colored traces) and different conditions of synaptic placement in the L5PC model.</a:t>
            </a:r>
          </a:p>
          <a:p>
            <a:pPr algn="just"/>
            <a:r>
              <a:rPr lang="en-US" sz="2000" dirty="0">
                <a:ea typeface="Arial" panose="020B0604020202020204" pitchFamily="34" charset="0"/>
              </a:rPr>
              <a:t>(B) Accuracy for the memorization task for different synaptic placement conditions. Mean accuracy after 100 epochs is shown for all synaptic placement conditions (error bars: standard deviation) for different numbers of patterns (P). The blue bar within each grouping shows the performance of a M&amp;P neuron on a task with the same number of patterns. </a:t>
            </a:r>
          </a:p>
          <a:p>
            <a:pPr algn="just"/>
            <a:r>
              <a:rPr lang="en-US" sz="2000" dirty="0">
                <a:ea typeface="Arial" panose="020B0604020202020204" pitchFamily="34" charset="0"/>
              </a:rPr>
              <a:t>(C) Effect of conductance synapses vs. current synapses on classification capacity in the apical tuft. </a:t>
            </a:r>
          </a:p>
          <a:p>
            <a:pPr algn="just"/>
            <a:r>
              <a:rPr lang="en-US" sz="2000" dirty="0">
                <a:ea typeface="Arial" panose="020B0604020202020204" pitchFamily="34" charset="0"/>
              </a:rPr>
              <a:t>(D) Effect of MESW-constraint and active dendritic mechanisms on classification performance. </a:t>
            </a:r>
          </a:p>
          <a:p>
            <a:pPr algn="just"/>
            <a:r>
              <a:rPr lang="en-US" sz="2000" dirty="0">
                <a:ea typeface="Arial" panose="020B0604020202020204" pitchFamily="34" charset="0"/>
              </a:rPr>
              <a:t>(E) Value of synaptic </a:t>
            </a:r>
            <a:r>
              <a:rPr lang="en-US" sz="2000" dirty="0" err="1">
                <a:ea typeface="Arial" panose="020B0604020202020204" pitchFamily="34" charset="0"/>
              </a:rPr>
              <a:t>conductances</a:t>
            </a:r>
            <a:r>
              <a:rPr lang="en-US" sz="2000" dirty="0">
                <a:ea typeface="Arial" panose="020B0604020202020204" pitchFamily="34" charset="0"/>
              </a:rPr>
              <a:t> obtained after the completion of the learning algorithm as a function of distance of the synapses from the soma for learning tasks with different numbers of patterns.</a:t>
            </a:r>
            <a:endParaRPr lang="en-US" sz="2000" dirty="0"/>
          </a:p>
        </p:txBody>
      </p:sp>
      <p:sp>
        <p:nvSpPr>
          <p:cNvPr id="65" name="Rectangle 64">
            <a:extLst>
              <a:ext uri="{FF2B5EF4-FFF2-40B4-BE49-F238E27FC236}">
                <a16:creationId xmlns:a16="http://schemas.microsoft.com/office/drawing/2014/main" id="{99002468-8AB6-460F-89F8-1A45565B9E95}"/>
              </a:ext>
            </a:extLst>
          </p:cNvPr>
          <p:cNvSpPr/>
          <p:nvPr/>
        </p:nvSpPr>
        <p:spPr>
          <a:xfrm>
            <a:off x="10510069" y="27004410"/>
            <a:ext cx="9029279" cy="1938992"/>
          </a:xfrm>
          <a:prstGeom prst="rect">
            <a:avLst/>
          </a:prstGeom>
        </p:spPr>
        <p:txBody>
          <a:bodyPr wrap="square">
            <a:spAutoFit/>
          </a:bodyPr>
          <a:lstStyle/>
          <a:p>
            <a:pPr algn="just"/>
            <a:r>
              <a:rPr lang="en-US" sz="2000" dirty="0">
                <a:ea typeface="Arial" panose="020B0604020202020204" pitchFamily="34" charset="0"/>
              </a:rPr>
              <a:t>(A) To calculate the MESW for each location, we voltage clamp the dendritic segment to 0 mV, the reversal potential for sodium, for 100 </a:t>
            </a:r>
            <a:r>
              <a:rPr lang="en-US" sz="2000" dirty="0" err="1">
                <a:ea typeface="Arial" panose="020B0604020202020204" pitchFamily="34" charset="0"/>
              </a:rPr>
              <a:t>ms</a:t>
            </a:r>
            <a:r>
              <a:rPr lang="en-US" sz="2000" dirty="0">
                <a:ea typeface="Arial" panose="020B0604020202020204" pitchFamily="34" charset="0"/>
              </a:rPr>
              <a:t> (middle column) and record the somatic voltage (right column). </a:t>
            </a:r>
          </a:p>
          <a:p>
            <a:pPr algn="just"/>
            <a:r>
              <a:rPr lang="en-US" sz="2000" dirty="0">
                <a:ea typeface="Arial" panose="020B0604020202020204" pitchFamily="34" charset="0"/>
              </a:rPr>
              <a:t>(B)</a:t>
            </a:r>
            <a:r>
              <a:rPr lang="en-US" sz="2000" b="1" dirty="0">
                <a:ea typeface="Arial" panose="020B0604020202020204" pitchFamily="34" charset="0"/>
              </a:rPr>
              <a:t> </a:t>
            </a:r>
            <a:r>
              <a:rPr lang="en-US" sz="2000" dirty="0">
                <a:ea typeface="Arial" panose="020B0604020202020204" pitchFamily="34" charset="0"/>
              </a:rPr>
              <a:t>A simulated L5 PC superimposed with the MESW values.</a:t>
            </a:r>
            <a:r>
              <a:rPr lang="en-US" sz="2000" b="1" dirty="0">
                <a:ea typeface="Arial" panose="020B0604020202020204" pitchFamily="34" charset="0"/>
              </a:rPr>
              <a:t> </a:t>
            </a:r>
          </a:p>
          <a:p>
            <a:pPr algn="just"/>
            <a:r>
              <a:rPr lang="en-US" sz="2000" dirty="0">
                <a:ea typeface="Arial" panose="020B0604020202020204" pitchFamily="34" charset="0"/>
              </a:rPr>
              <a:t>(C)</a:t>
            </a:r>
            <a:r>
              <a:rPr lang="en-US" sz="2000" b="1" dirty="0">
                <a:ea typeface="Arial" panose="020B0604020202020204" pitchFamily="34" charset="0"/>
              </a:rPr>
              <a:t> </a:t>
            </a:r>
            <a:r>
              <a:rPr lang="en-US" sz="2000" dirty="0">
                <a:ea typeface="Arial" panose="020B0604020202020204" pitchFamily="34" charset="0"/>
              </a:rPr>
              <a:t>Box-and-whiskers plot of MESWs when the synapses are placed on the full dendritic tree, basal tree, apical tuft, and soma</a:t>
            </a:r>
            <a:endParaRPr lang="en-US" sz="2000" dirty="0">
              <a:effectLst/>
              <a:ea typeface="Arial" panose="020B0604020202020204" pitchFamily="34" charset="0"/>
            </a:endParaRPr>
          </a:p>
        </p:txBody>
      </p:sp>
      <mc:AlternateContent xmlns:mc="http://schemas.openxmlformats.org/markup-compatibility/2006">
        <mc:Choice xmlns:a14="http://schemas.microsoft.com/office/drawing/2010/main" Requires="a14">
          <p:sp>
            <p:nvSpPr>
              <p:cNvPr id="66" name="Rectangle 65">
                <a:extLst>
                  <a:ext uri="{FF2B5EF4-FFF2-40B4-BE49-F238E27FC236}">
                    <a16:creationId xmlns:a16="http://schemas.microsoft.com/office/drawing/2014/main" id="{482E9555-6B75-4C87-8B3C-C86076CDA481}"/>
                  </a:ext>
                </a:extLst>
              </p:cNvPr>
              <p:cNvSpPr/>
              <p:nvPr/>
            </p:nvSpPr>
            <p:spPr>
              <a:xfrm>
                <a:off x="1262081" y="19183964"/>
                <a:ext cx="8602682" cy="3262303"/>
              </a:xfrm>
              <a:prstGeom prst="rect">
                <a:avLst/>
              </a:prstGeom>
            </p:spPr>
            <p:txBody>
              <a:bodyPr wrap="square">
                <a:spAutoFit/>
              </a:bodyPr>
              <a:lstStyle/>
              <a:p>
                <a:pPr algn="just">
                  <a:lnSpc>
                    <a:spcPct val="115000"/>
                  </a:lnSpc>
                </a:pPr>
                <a:r>
                  <a:rPr lang="en-US" sz="2000" dirty="0">
                    <a:ea typeface="Arial" panose="020B0604020202020204" pitchFamily="34" charset="0"/>
                    <a:cs typeface="Arial" panose="020B0604020202020204" pitchFamily="34" charset="0"/>
                  </a:rPr>
                  <a:t>(A) The McCulloch &amp;Pitts (M&amp;P) perceptron. </a:t>
                </a:r>
              </a:p>
              <a:p>
                <a:pPr algn="just"/>
                <a:r>
                  <a:rPr lang="en-US" sz="2000" dirty="0">
                    <a:cs typeface="Arial" panose="020B0604020202020204" pitchFamily="34" charset="0"/>
                  </a:rPr>
                  <a:t>(B)</a:t>
                </a:r>
                <a:r>
                  <a:rPr lang="en-US" sz="2000" b="1" dirty="0">
                    <a:cs typeface="Arial" panose="020B0604020202020204" pitchFamily="34" charset="0"/>
                  </a:rPr>
                  <a:t> </a:t>
                </a:r>
                <a:r>
                  <a:rPr lang="en-US" sz="2000" dirty="0">
                    <a:cs typeface="Arial" panose="020B0604020202020204" pitchFamily="34" charset="0"/>
                  </a:rPr>
                  <a:t>Schematic of the biophysical perceptron.</a:t>
                </a:r>
                <a:r>
                  <a:rPr lang="en-US" sz="2000" b="1" dirty="0">
                    <a:cs typeface="Arial" panose="020B0604020202020204" pitchFamily="34" charset="0"/>
                  </a:rPr>
                  <a:t> </a:t>
                </a:r>
                <a:r>
                  <a:rPr lang="en-US" sz="2000" dirty="0">
                    <a:cs typeface="Arial" panose="020B0604020202020204" pitchFamily="34" charset="0"/>
                  </a:rPr>
                  <a:t>A layer 5 pyramidal cell model with excitatory synapses (red dots) receiving presynaptic input patterns. The synaptic weights are the excitatory conductance, </a:t>
                </a:r>
                <a14:m>
                  <m:oMath xmlns:m="http://schemas.openxmlformats.org/officeDocument/2006/math">
                    <m:sSub>
                      <m:sSubPr>
                        <m:ctrlPr>
                          <a:rPr lang="en-US" sz="2000" i="1"/>
                        </m:ctrlPr>
                      </m:sSubPr>
                      <m:e>
                        <m:sSup>
                          <m:sSupPr>
                            <m:ctrlPr>
                              <a:rPr lang="en-US" sz="2000" i="1"/>
                            </m:ctrlPr>
                          </m:sSupPr>
                          <m:e>
                            <m:r>
                              <a:rPr lang="en-US" sz="2000" i="1"/>
                              <m:t>𝑔</m:t>
                            </m:r>
                          </m:e>
                          <m:sup>
                            <m:r>
                              <a:rPr lang="en-US" sz="2000" i="1"/>
                              <m:t>𝐸</m:t>
                            </m:r>
                          </m:sup>
                        </m:sSup>
                      </m:e>
                      <m:sub>
                        <m:r>
                          <a:rPr lang="en-US" sz="2000" i="1"/>
                          <m:t>𝑖</m:t>
                        </m:r>
                      </m:sub>
                    </m:sSub>
                  </m:oMath>
                </a14:m>
                <a:r>
                  <a:rPr lang="en-US" sz="2000" dirty="0">
                    <a:cs typeface="Arial" panose="020B0604020202020204" pitchFamily="34" charset="0"/>
                  </a:rPr>
                  <a:t>, for the respective synapse, </a:t>
                </a:r>
                <a14:m>
                  <m:oMath xmlns:m="http://schemas.openxmlformats.org/officeDocument/2006/math">
                    <m:r>
                      <a:rPr lang="en-US" sz="2000" i="1"/>
                      <m:t>𝑖</m:t>
                    </m:r>
                  </m:oMath>
                </a14:m>
                <a:r>
                  <a:rPr lang="en-US" sz="2000" dirty="0">
                    <a:cs typeface="Arial" panose="020B0604020202020204" pitchFamily="34" charset="0"/>
                  </a:rPr>
                  <a:t>. In this model, a presynaptic input pattern consists of a particular set of synaptic inputs that are either active “1” or inactive “0. </a:t>
                </a:r>
              </a:p>
              <a:p>
                <a:pPr algn="just"/>
                <a:r>
                  <a:rPr lang="en-US" sz="2000" dirty="0">
                    <a:cs typeface="Arial" panose="020B0604020202020204" pitchFamily="34" charset="0"/>
                  </a:rPr>
                  <a:t>(C)</a:t>
                </a:r>
                <a:r>
                  <a:rPr lang="en-US" sz="2000" b="1" dirty="0">
                    <a:cs typeface="Arial" panose="020B0604020202020204" pitchFamily="34" charset="0"/>
                  </a:rPr>
                  <a:t> </a:t>
                </a:r>
                <a:r>
                  <a:rPr lang="en-US" sz="2000" dirty="0">
                    <a:cs typeface="Arial" panose="020B0604020202020204" pitchFamily="34" charset="0"/>
                  </a:rPr>
                  <a:t>An example of the learning process in the biophysical perceptron.</a:t>
                </a:r>
                <a:r>
                  <a:rPr lang="en-US" sz="2000" b="1" dirty="0">
                    <a:cs typeface="Arial" panose="020B0604020202020204" pitchFamily="34" charset="0"/>
                  </a:rPr>
                  <a:t> </a:t>
                </a:r>
                <a:r>
                  <a:rPr lang="en-US" sz="2000" dirty="0">
                    <a:cs typeface="Arial" panose="020B0604020202020204" pitchFamily="34" charset="0"/>
                  </a:rPr>
                  <a:t>Two input patterns, each with 1000 synapses, are presented to the model neuron. for pattern 1 the model cell should not generate any spike, whereas for pattern 2 it should. </a:t>
                </a:r>
              </a:p>
            </p:txBody>
          </p:sp>
        </mc:Choice>
        <mc:Fallback>
          <p:sp>
            <p:nvSpPr>
              <p:cNvPr id="66" name="Rectangle 65">
                <a:extLst>
                  <a:ext uri="{FF2B5EF4-FFF2-40B4-BE49-F238E27FC236}">
                    <a16:creationId xmlns:a16="http://schemas.microsoft.com/office/drawing/2014/main" id="{482E9555-6B75-4C87-8B3C-C86076CDA481}"/>
                  </a:ext>
                </a:extLst>
              </p:cNvPr>
              <p:cNvSpPr>
                <a:spLocks noRot="1" noChangeAspect="1" noMove="1" noResize="1" noEditPoints="1" noAdjustHandles="1" noChangeArrowheads="1" noChangeShapeType="1" noTextEdit="1"/>
              </p:cNvSpPr>
              <p:nvPr/>
            </p:nvSpPr>
            <p:spPr>
              <a:xfrm>
                <a:off x="1262081" y="19183964"/>
                <a:ext cx="8602682" cy="3262303"/>
              </a:xfrm>
              <a:prstGeom prst="rect">
                <a:avLst/>
              </a:prstGeom>
              <a:blipFill>
                <a:blip r:embed="rId10"/>
                <a:stretch>
                  <a:fillRect l="-709" t="-374" r="-780" b="-2430"/>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8BCE3860-7A7C-4CD9-8420-9E30C6DF2A39}"/>
              </a:ext>
            </a:extLst>
          </p:cNvPr>
          <p:cNvSpPr/>
          <p:nvPr/>
        </p:nvSpPr>
        <p:spPr>
          <a:xfrm>
            <a:off x="20316212" y="10446409"/>
            <a:ext cx="9652028" cy="3255058"/>
          </a:xfrm>
          <a:prstGeom prst="rect">
            <a:avLst/>
          </a:prstGeom>
        </p:spPr>
        <p:txBody>
          <a:bodyPr wrap="square">
            <a:spAutoFit/>
          </a:bodyPr>
          <a:lstStyle/>
          <a:p>
            <a:pPr algn="just">
              <a:lnSpc>
                <a:spcPct val="115000"/>
              </a:lnSpc>
            </a:pPr>
            <a:r>
              <a:rPr lang="en-US" sz="2000" dirty="0">
                <a:latin typeface="Arial" panose="020B0604020202020204" pitchFamily="34" charset="0"/>
                <a:ea typeface="Arial" panose="020B0604020202020204" pitchFamily="34" charset="0"/>
              </a:rPr>
              <a:t>(A) Adding noise via “bit flips” for the generalization task. Two patterns (leftmost column, clean faces) consisting of 200 active synapses (black pixels) and 800 inactive synapses (white pixels) can be corrupted by flipping active synapses to an inactive synapses or vice versa, creating a new “noisy” pattern (middle and right columns). </a:t>
            </a:r>
          </a:p>
          <a:p>
            <a:pPr algn="just">
              <a:lnSpc>
                <a:spcPct val="115000"/>
              </a:lnSpc>
            </a:pPr>
            <a:r>
              <a:rPr lang="en-US" sz="2000" dirty="0">
                <a:latin typeface="Arial" panose="020B0604020202020204" pitchFamily="34" charset="0"/>
                <a:ea typeface="Arial" panose="020B0604020202020204" pitchFamily="34" charset="0"/>
              </a:rPr>
              <a:t>(B) </a:t>
            </a:r>
            <a:r>
              <a:rPr lang="en-US" sz="2000" b="1" dirty="0">
                <a:latin typeface="Arial" panose="020B0604020202020204" pitchFamily="34" charset="0"/>
                <a:ea typeface="Arial" panose="020B0604020202020204" pitchFamily="34" charset="0"/>
              </a:rPr>
              <a:t> </a:t>
            </a:r>
            <a:r>
              <a:rPr lang="en-US" sz="2000" dirty="0">
                <a:latin typeface="Arial" panose="020B0604020202020204" pitchFamily="34" charset="0"/>
                <a:ea typeface="Arial" panose="020B0604020202020204" pitchFamily="34" charset="0"/>
              </a:rPr>
              <a:t>Task schematic. A noisy pattern, drawn from one of two original patterns is presented to the neuron. The neuron has to decide which of the original patterns the noisy pattern came from, by either firing (for the first pattern) or not firing (for the second pattern).</a:t>
            </a:r>
            <a:endParaRPr lang="en-US" sz="2000" dirty="0"/>
          </a:p>
        </p:txBody>
      </p:sp>
      <p:sp>
        <p:nvSpPr>
          <p:cNvPr id="79" name="Rectangle 78">
            <a:extLst>
              <a:ext uri="{FF2B5EF4-FFF2-40B4-BE49-F238E27FC236}">
                <a16:creationId xmlns:a16="http://schemas.microsoft.com/office/drawing/2014/main" id="{AFD0B31A-1084-4340-AAA3-78E80561174B}"/>
              </a:ext>
            </a:extLst>
          </p:cNvPr>
          <p:cNvSpPr/>
          <p:nvPr/>
        </p:nvSpPr>
        <p:spPr>
          <a:xfrm>
            <a:off x="20022333" y="20930420"/>
            <a:ext cx="9703772" cy="4093428"/>
          </a:xfrm>
          <a:prstGeom prst="rect">
            <a:avLst/>
          </a:prstGeom>
        </p:spPr>
        <p:txBody>
          <a:bodyPr wrap="square">
            <a:spAutoFit/>
          </a:bodyPr>
          <a:lstStyle/>
          <a:p>
            <a:pPr algn="just"/>
            <a:r>
              <a:rPr lang="en-US" sz="2000" dirty="0"/>
              <a:t>(A) Learning curves for the generalization task, in which a neuron with 1000 synapses had to distinguish between two patterns with noise added in the form of random “bit flips”, in the fully active L5PC perceptron and in an M&amp;P perceptron for different numbers of bit flips and different conditions of synaptic placement in the L5PC model. </a:t>
            </a:r>
          </a:p>
          <a:p>
            <a:pPr algn="just"/>
            <a:r>
              <a:rPr lang="en-US" sz="2000" dirty="0"/>
              <a:t>(B) Accuracy for the generalization task for different synaptic placement conditions. Mean accuracy after 20 epochs is shown for all synaptic placement conditions (error bars: standard deviation) for different levels of noise (numbers of bit flips). </a:t>
            </a:r>
            <a:br>
              <a:rPr lang="en-US" sz="2000" dirty="0"/>
            </a:br>
            <a:r>
              <a:rPr lang="en-US" sz="2000" dirty="0"/>
              <a:t>(C) Effect of conductance synapses vs. current synapses on classification capacity in the apical tuft. As in (B), blue bar is the performance of an M&amp;P neuron for comparison. </a:t>
            </a:r>
            <a:br>
              <a:rPr lang="en-US" sz="2000" dirty="0"/>
            </a:br>
            <a:r>
              <a:rPr lang="en-US" sz="2000" dirty="0"/>
              <a:t>(D) Effect of MESW-constraint and active dendritic mechanisms on classification performance. </a:t>
            </a:r>
          </a:p>
          <a:p>
            <a:pPr algn="just"/>
            <a:r>
              <a:rPr lang="en-US" sz="2000" dirty="0"/>
              <a:t>(E) Value of synaptic </a:t>
            </a:r>
            <a:r>
              <a:rPr lang="en-US" sz="2000" dirty="0" err="1"/>
              <a:t>conductances</a:t>
            </a:r>
            <a:r>
              <a:rPr lang="en-US" sz="2000" dirty="0"/>
              <a:t> obtained after the completion of the learning algorithm as a function of distance of the synapses from the soma for different numbers of bit flips. </a:t>
            </a:r>
          </a:p>
        </p:txBody>
      </p:sp>
      <p:sp>
        <p:nvSpPr>
          <p:cNvPr id="99" name="Text Box 123">
            <a:extLst>
              <a:ext uri="{FF2B5EF4-FFF2-40B4-BE49-F238E27FC236}">
                <a16:creationId xmlns:a16="http://schemas.microsoft.com/office/drawing/2014/main" id="{AF9DBAEC-0AE1-44AD-B342-3B043DA998BE}"/>
              </a:ext>
            </a:extLst>
          </p:cNvPr>
          <p:cNvSpPr/>
          <p:nvPr/>
        </p:nvSpPr>
        <p:spPr>
          <a:xfrm>
            <a:off x="9166938" y="4462136"/>
            <a:ext cx="12804227" cy="110393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138808" tIns="138808" rIns="138808" bIns="138808" anchor="ctr" anchorCtr="0" compatLnSpc="0">
            <a:noAutofit/>
          </a:bodyPr>
          <a:lstStyle/>
          <a:p>
            <a:pPr algn="ctr"/>
            <a:r>
              <a:rPr lang="en-US" sz="4400" baseline="30000" dirty="0" err="1">
                <a:solidFill>
                  <a:srgbClr val="FFFFFF"/>
                </a:solidFill>
                <a:latin typeface="Calibri" panose="020F0502020204030204" pitchFamily="34" charset="0"/>
                <a:ea typeface="Microsoft YaHei" pitchFamily="2"/>
                <a:cs typeface="Lucida Sans" pitchFamily="2"/>
              </a:rPr>
              <a:t>Biorxiv</a:t>
            </a:r>
            <a:r>
              <a:rPr lang="en-US" sz="4400" baseline="30000" dirty="0">
                <a:solidFill>
                  <a:srgbClr val="FFFFFF"/>
                </a:solidFill>
                <a:latin typeface="Calibri" panose="020F0502020204030204" pitchFamily="34" charset="0"/>
                <a:ea typeface="Microsoft YaHei" pitchFamily="2"/>
                <a:cs typeface="Lucida Sans" pitchFamily="2"/>
              </a:rPr>
              <a:t>: Perceptron learning and classification in a modeled cortical pyramidal cell</a:t>
            </a:r>
          </a:p>
        </p:txBody>
      </p:sp>
      <p:pic>
        <p:nvPicPr>
          <p:cNvPr id="101" name="Picture 100">
            <a:extLst>
              <a:ext uri="{FF2B5EF4-FFF2-40B4-BE49-F238E27FC236}">
                <a16:creationId xmlns:a16="http://schemas.microsoft.com/office/drawing/2014/main" id="{A69FFA91-4F80-43CB-AC52-C121DC8F9666}"/>
              </a:ext>
            </a:extLst>
          </p:cNvPr>
          <p:cNvPicPr/>
          <p:nvPr/>
        </p:nvPicPr>
        <p:blipFill>
          <a:blip r:embed="rId11" cstate="print">
            <a:extLst>
              <a:ext uri="{28A0092B-C50C-407E-A947-70E740481C1C}">
                <a14:useLocalDpi xmlns:a14="http://schemas.microsoft.com/office/drawing/2010/main" val="0"/>
              </a:ext>
            </a:extLst>
          </a:blip>
          <a:stretch>
            <a:fillRect/>
          </a:stretch>
        </p:blipFill>
        <p:spPr>
          <a:xfrm>
            <a:off x="10620119" y="6997737"/>
            <a:ext cx="8732980" cy="6789157"/>
          </a:xfrm>
          <a:prstGeom prst="rect">
            <a:avLst/>
          </a:prstGeom>
        </p:spPr>
      </p:pic>
    </p:spTree>
  </p:cSld>
  <p:clrMapOvr>
    <a:masterClrMapping/>
  </p:clrMapOvr>
</p:sld>
</file>

<file path=ppt/theme/theme1.xml><?xml version="1.0" encoding="utf-8"?>
<a:theme xmlns:a="http://schemas.openxmlformats.org/drawingml/2006/main" name="Default">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10542</TotalTime>
  <Words>1379</Words>
  <Application>Microsoft Office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Microsoft JhengHei Light</vt:lpstr>
      <vt:lpstr>Arial</vt:lpstr>
      <vt:lpstr>Calibri</vt:lpstr>
      <vt:lpstr>Calibri Light</vt:lpstr>
      <vt:lpstr>Cambria Math</vt:lpstr>
      <vt:lpstr>Times New Roman</vt:lpstr>
      <vt:lpstr>Default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Toviah Moldwin</dc:creator>
  <cp:lastModifiedBy>Toviah Moldwin</cp:lastModifiedBy>
  <cp:revision>139</cp:revision>
  <cp:lastPrinted>2017-10-09T09:37:05Z</cp:lastPrinted>
  <dcterms:modified xsi:type="dcterms:W3CDTF">2019-03-06T09:50:26Z</dcterms:modified>
</cp:coreProperties>
</file>