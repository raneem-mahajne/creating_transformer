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How a Transformer Implements the Plus-Last-Even Rule</a:t>
            </a:r>
          </a:p>
        </p:txBody>
      </p:sp>
      <p:sp>
        <p:nvSpPr>
          <p:cNvPr id="3" name="Subtitle 2"/>
          <p:cNvSpPr>
            <a:spLocks noGrp="1"/>
          </p:cNvSpPr>
          <p:nvPr>
            <p:ph type="subTitle" idx="1"/>
          </p:nvPr>
        </p:nvSpPr>
        <p:spPr/>
        <p:txBody>
          <a:bodyPr/>
          <a:lstStyle/>
          <a:p>
            <a:r>
              <a:t>Interpretable minimal transformers: geometry as algorithm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Plus-Last-Even Task</a:t>
            </a:r>
          </a:p>
        </p:txBody>
      </p:sp>
      <p:sp>
        <p:nvSpPr>
          <p:cNvPr id="3" name="Content Placeholder 2"/>
          <p:cNvSpPr>
            <a:spLocks noGrp="1"/>
          </p:cNvSpPr>
          <p:nvPr>
            <p:ph idx="1"/>
          </p:nvPr>
        </p:nvSpPr>
        <p:spPr/>
        <p:txBody>
          <a:bodyPr/>
          <a:lstStyle/>
          <a:p/>
          <a:p>
            <a:pPr>
              <a:spcAft>
                <a:spcPts val="600"/>
              </a:spcAft>
            </a:pPr>
            <a:r>
              <a:t>Rule: When the current token is '+', the next token must be the most recent even number that appeared before that '+'.</a:t>
            </a:r>
          </a:p>
          <a:p>
            <a:pPr>
              <a:spcAft>
                <a:spcPts val="600"/>
              </a:spcAft>
            </a:pPr>
          </a:p>
          <a:p>
            <a:pPr>
              <a:spcAft>
                <a:spcPts val="600"/>
              </a:spcAft>
            </a:pPr>
            <a:r>
              <a:t>Example:  5, 3, 8, 7, +, 8,   10, 2, 4, +, 4, ...</a:t>
            </a:r>
          </a:p>
          <a:p>
            <a:pPr>
              <a:spcAft>
                <a:spcPts val="600"/>
              </a:spcAft>
            </a:pPr>
            <a:r>
              <a:t>                         ↑ last even = 8         ↑ last even = 4</a:t>
            </a:r>
          </a:p>
          <a:p>
            <a:pPr>
              <a:spcAft>
                <a:spcPts val="600"/>
              </a:spcAft>
            </a:pPr>
          </a:p>
          <a:p>
            <a:pPr>
              <a:spcAft>
                <a:spcPts val="600"/>
              </a:spcAft>
            </a:pPr>
            <a:r>
              <a:t>The model must: (1) detect that the current position is '+', (2) search backward to find the last even number, (3) output that number.</a:t>
            </a:r>
          </a:p>
          <a:p>
            <a:pPr>
              <a:spcAft>
                <a:spcPts val="600"/>
              </a:spcAft>
            </a:pPr>
            <a:r>
              <a:t>This is operator-conditional and context-dependent — a good testbed for understanding how transformers perform retrieval.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Decoder-Only Transformer: High-Level Pipeline</a:t>
            </a:r>
          </a:p>
        </p:txBody>
      </p:sp>
      <p:sp>
        <p:nvSpPr>
          <p:cNvPr id="3" name="Content Placeholder 2"/>
          <p:cNvSpPr>
            <a:spLocks noGrp="1"/>
          </p:cNvSpPr>
          <p:nvPr>
            <p:ph idx="1"/>
          </p:nvPr>
        </p:nvSpPr>
        <p:spPr/>
        <p:txBody>
          <a:bodyPr/>
          <a:lstStyle/>
          <a:p/>
          <a:p>
            <a:pPr>
              <a:spcAft>
                <a:spcPts val="600"/>
              </a:spcAft>
            </a:pPr>
            <a:r>
              <a:t>Input: sequence of token IDs → each position gets a hidden state in ℝ^d.</a:t>
            </a:r>
          </a:p>
          <a:p>
            <a:pPr>
              <a:spcAft>
                <a:spcPts val="600"/>
              </a:spcAft>
            </a:pPr>
          </a:p>
          <a:p>
            <a:pPr>
              <a:spcAft>
                <a:spcPts val="600"/>
              </a:spcAft>
            </a:pPr>
            <a:r>
              <a:t>1. Embedding: Token embedding E_t + position embedding P_i → x_i = E_{token(i)} + P_i  (each (token, position) is a point in ℝ^d).</a:t>
            </a:r>
          </a:p>
          <a:p>
            <a:pPr>
              <a:spcAft>
                <a:spcPts val="600"/>
              </a:spcAft>
            </a:pPr>
            <a:r>
              <a:t>2. Self-attention: For each position i, compute query q_i = W_Q x_i, key k_i = W_K x_i, value v_i = W_V x_i; attention weights α_ij ∝ exp(q_i·k_j/√d) (causal: j≤i); output at i = Σ_j α_ij v_j.</a:t>
            </a:r>
          </a:p>
          <a:p>
            <a:pPr>
              <a:spcAft>
                <a:spcPts val="600"/>
              </a:spcAft>
            </a:pPr>
            <a:r>
              <a:t>3. Residual: state_i := x_i + attention_output_i.</a:t>
            </a:r>
          </a:p>
          <a:p>
            <a:pPr>
              <a:spcAft>
                <a:spcPts val="600"/>
              </a:spcAft>
            </a:pPr>
            <a:r>
              <a:t>4. Feedforward: state_i := state_i + FFN(state_i).</a:t>
            </a:r>
          </a:p>
          <a:p>
            <a:pPr>
              <a:spcAft>
                <a:spcPts val="600"/>
              </a:spcAft>
            </a:pPr>
            <a:r>
              <a:t>5. LM head: logits = state W_lm^T + b → softmax → P(next token).</a:t>
            </a:r>
          </a:p>
          <a:p>
            <a:pPr>
              <a:spcAft>
                <a:spcPts val="600"/>
              </a:spcAft>
            </a:pPr>
          </a:p>
          <a:p>
            <a:pPr>
              <a:spcAft>
                <a:spcPts val="600"/>
              </a:spcAft>
            </a:pPr>
            <a:r>
              <a:t>Next-token prediction at position i uses only positions 0..i; the model learns to use attention to 'look back' when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We Use 2D Embeddings (n_embd=2, d_k=2)</a:t>
            </a:r>
          </a:p>
        </p:txBody>
      </p:sp>
      <p:sp>
        <p:nvSpPr>
          <p:cNvPr id="3" name="Content Placeholder 2"/>
          <p:cNvSpPr>
            <a:spLocks noGrp="1"/>
          </p:cNvSpPr>
          <p:nvPr>
            <p:ph idx="1"/>
          </p:nvPr>
        </p:nvSpPr>
        <p:spPr/>
        <p:txBody>
          <a:bodyPr/>
          <a:lstStyle/>
          <a:p/>
          <a:p>
            <a:pPr>
              <a:spcAft>
                <a:spcPts val="600"/>
              </a:spcAft>
            </a:pPr>
            <a:r>
              <a:t>In full-scale transformers, d is large (e.g. 768, 4096); internal states are opaque.</a:t>
            </a:r>
          </a:p>
          <a:p>
            <a:pPr>
              <a:spcAft>
                <a:spcPts val="600"/>
              </a:spcAft>
            </a:pPr>
            <a:r>
              <a:t>We set n_embd = 2 and head size = 2 so that every vector lives in ℝ²:</a:t>
            </a:r>
          </a:p>
          <a:p>
            <a:pPr>
              <a:spcAft>
                <a:spcPts val="600"/>
              </a:spcAft>
            </a:pPr>
            <a:r>
              <a:t>  • Embeddings, queries, keys, values, attention outputs, and pre-LM-head states are all 2D points.</a:t>
            </a:r>
          </a:p>
          <a:p>
            <a:pPr>
              <a:spcAft>
                <a:spcPts val="600"/>
              </a:spcAft>
            </a:pPr>
            <a:r>
              <a:t>  • No PCA or t-SNE — what we plot is the actual model state.</a:t>
            </a:r>
          </a:p>
          <a:p>
            <a:pPr>
              <a:spcAft>
                <a:spcPts val="600"/>
              </a:spcAft>
            </a:pPr>
            <a:r>
              <a:t>Claim: The learned 2D geometry is the algorithm. The arrangement of points and decision boundaries in the plane can be read as the step-by-step procedure the model executes.</a:t>
            </a:r>
          </a:p>
          <a:p>
            <a:pPr>
              <a:spcAft>
                <a:spcPts val="600"/>
              </a:spcAft>
            </a:pPr>
          </a:p>
          <a:p>
            <a:pPr>
              <a:spcAft>
                <a:spcPts val="600"/>
              </a:spcAft>
            </a:pPr>
            <a:r>
              <a:t>Config: block_size=8, 1 head; single block (embed → attention → residual → FFN → LM head).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Transformer Implements Plus-Last-Even (4 Steps)</a:t>
            </a:r>
          </a:p>
        </p:txBody>
      </p:sp>
      <p:sp>
        <p:nvSpPr>
          <p:cNvPr id="3" name="Content Placeholder 2"/>
          <p:cNvSpPr>
            <a:spLocks noGrp="1"/>
          </p:cNvSpPr>
          <p:nvPr>
            <p:ph idx="1"/>
          </p:nvPr>
        </p:nvSpPr>
        <p:spPr/>
        <p:txBody>
          <a:bodyPr/>
          <a:lstStyle/>
          <a:p/>
          <a:p>
            <a:pPr>
              <a:spcAft>
                <a:spcPts val="600"/>
              </a:spcAft>
            </a:pPr>
            <a:r>
              <a:t>(1) Representation: Token and position embeddings assign each (token, position) a unique point in ℝ². So '8 at position 3' and '+' at position 5 have distinct locations; the model 'sees' who is where.</a:t>
            </a:r>
          </a:p>
          <a:p>
            <a:pPr>
              <a:spcAft>
                <a:spcPts val="600"/>
              </a:spcAft>
            </a:pPr>
          </a:p>
          <a:p>
            <a:pPr>
              <a:spcAft>
                <a:spcPts val="600"/>
              </a:spcAft>
            </a:pPr>
            <a:r>
              <a:t>(2) Retrieval: W_Q and W_K map embeddings to queries and keys. The model learns so that the query at a '+' position is close (high dot product) to the keys of even-number positions, with recency encoded — the key of the most recent even gets the highest attention.</a:t>
            </a:r>
          </a:p>
          <a:p>
            <a:pPr>
              <a:spcAft>
                <a:spcPts val="600"/>
              </a:spcAft>
            </a:pPr>
          </a:p>
          <a:p>
            <a:pPr>
              <a:spcAft>
                <a:spcPts val="600"/>
              </a:spcAft>
            </a:pPr>
            <a:r>
              <a:t>(3) Read-out: Attention weights α_ij select the relevant positions; the value vectors at those positions are summed. So at '+', the attention output is dominated by the value at the 'last even' position. The residual then adds this to the current embedding: state moves in the plane toward the 'last even' representation.</a:t>
            </a:r>
          </a:p>
          <a:p>
            <a:pPr>
              <a:spcAft>
                <a:spcPts val="600"/>
              </a:spcAft>
            </a:pPr>
          </a:p>
          <a:p>
            <a:pPr>
              <a:spcAft>
                <a:spcPts val="600"/>
              </a:spcAft>
            </a:pPr>
            <a:r>
              <a:t>(4) Output: The LM head is a linear map + softmax; it partitions ℝ² into regions (one per output token). The final state (after residual + FFN) lands in one region → that token is predicted. For correct behavior, the state at '+' must land in the region of the last even number.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1: Representation (Token + Position in ℝ²)</a:t>
            </a:r>
          </a:p>
        </p:txBody>
      </p:sp>
      <p:sp>
        <p:nvSpPr>
          <p:cNvPr id="3" name="Content Placeholder 2"/>
          <p:cNvSpPr>
            <a:spLocks noGrp="1"/>
          </p:cNvSpPr>
          <p:nvPr>
            <p:ph idx="1"/>
          </p:nvPr>
        </p:nvSpPr>
        <p:spPr/>
        <p:txBody>
          <a:bodyPr/>
          <a:lstStyle/>
          <a:p/>
          <a:p>
            <a:pPr>
              <a:spcAft>
                <a:spcPts val="600"/>
              </a:spcAft>
            </a:pPr>
            <a:r>
              <a:t>x_i = E_{token(i)} + P_i. Each (token, position) pair is a unique point in the plane.</a:t>
            </a:r>
          </a:p>
          <a:p>
            <a:pPr>
              <a:spcAft>
                <a:spcPts val="600"/>
              </a:spcAft>
            </a:pPr>
            <a:r>
              <a:t>Visualization: embeddings.png, token_position_embedding_space.png — scatter of all (token, position) points.</a:t>
            </a:r>
          </a:p>
          <a:p>
            <a:pPr>
              <a:spcAft>
                <a:spcPts val="600"/>
              </a:spcAft>
            </a:pPr>
            <a:r>
              <a:t>The model can distinguish '6 at position 2' from '6 at position 5' and from '+' at position 4 because they lie at different 2D locations.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2: Retrieval — Queries and Keys</a:t>
            </a:r>
          </a:p>
        </p:txBody>
      </p:sp>
      <p:sp>
        <p:nvSpPr>
          <p:cNvPr id="3" name="Content Placeholder 2"/>
          <p:cNvSpPr>
            <a:spLocks noGrp="1"/>
          </p:cNvSpPr>
          <p:nvPr>
            <p:ph idx="1"/>
          </p:nvPr>
        </p:nvSpPr>
        <p:spPr/>
        <p:txBody>
          <a:bodyPr/>
          <a:lstStyle/>
          <a:p/>
          <a:p>
            <a:pPr>
              <a:spcAft>
                <a:spcPts val="600"/>
              </a:spcAft>
            </a:pPr>
            <a:r>
              <a:t>Attention weight of position i on j: α_ij ∝ exp(q_i · k_j / √d). So 'who attends to whom' is determined by query–key alignment.</a:t>
            </a:r>
          </a:p>
          <a:p>
            <a:pPr>
              <a:spcAft>
                <a:spcPts val="600"/>
              </a:spcAft>
            </a:pPr>
            <a:r>
              <a:t>For plus-last-even, the query at a '+' position must align with keys of even-number positions; among those, the key of the most recent even should have the largest dot product with the '+' query.</a:t>
            </a:r>
          </a:p>
          <a:p>
            <a:pPr>
              <a:spcAft>
                <a:spcPts val="600"/>
              </a:spcAft>
            </a:pPr>
            <a:r>
              <a:t>Visualization: qk_embedding_space.png (scatter of all Q and K in ℝ²), qk_full_attention_heatmap.png (attention matrix over token–position pairs). We can see that '+' queries attend strongly to the 'last even' 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 Read-out — Values and Residual</a:t>
            </a:r>
          </a:p>
        </p:txBody>
      </p:sp>
      <p:sp>
        <p:nvSpPr>
          <p:cNvPr id="3" name="Content Placeholder 2"/>
          <p:cNvSpPr>
            <a:spLocks noGrp="1"/>
          </p:cNvSpPr>
          <p:nvPr>
            <p:ph idx="1"/>
          </p:nvPr>
        </p:nvSpPr>
        <p:spPr/>
        <p:txBody>
          <a:bodyPr/>
          <a:lstStyle/>
          <a:p/>
          <a:p>
            <a:pPr>
              <a:spcAft>
                <a:spcPts val="600"/>
              </a:spcAft>
            </a:pPr>
            <a:r>
              <a:t>Attention output at position i: Σ_j α_ij v_j. So the state receives a weighted sum of value vectors from previous positions.</a:t>
            </a:r>
          </a:p>
          <a:p>
            <a:pPr>
              <a:spcAft>
                <a:spcPts val="600"/>
              </a:spcAft>
            </a:pPr>
            <a:r>
              <a:t>At a '+' position, α is concentrated on the 'last even' position → the sum is essentially the value at that position. The residual then does: new_state = x_i + (attention output). So the state moves in the plane from '+' toward the 'last even' representation.</a:t>
            </a:r>
          </a:p>
          <a:p>
            <a:pPr>
              <a:spcAft>
                <a:spcPts val="600"/>
              </a:spcAft>
            </a:pPr>
            <a:r>
              <a:t>Visualization: residuals.png (embed vs V_transformed vs final per position), v_before_after_demo_*.png (trajectory of each position's state overlaid on P(next) heatmaps; green = correct prediction, red = wrong).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4: Output — LM Head Partitions ℝ²</a:t>
            </a:r>
          </a:p>
        </p:txBody>
      </p:sp>
      <p:sp>
        <p:nvSpPr>
          <p:cNvPr id="3" name="Content Placeholder 2"/>
          <p:cNvSpPr>
            <a:spLocks noGrp="1"/>
          </p:cNvSpPr>
          <p:nvPr>
            <p:ph idx="1"/>
          </p:nvPr>
        </p:nvSpPr>
        <p:spPr/>
        <p:txBody>
          <a:bodyPr/>
          <a:lstStyle/>
          <a:p/>
          <a:p>
            <a:pPr>
              <a:spcAft>
                <a:spcPts val="600"/>
              </a:spcAft>
            </a:pPr>
            <a:r>
              <a:t>After residual and feedforward, the state is a point in ℝ². The LM head applies a linear map + softmax to produce P(next token).</a:t>
            </a:r>
          </a:p>
          <a:p>
            <a:pPr>
              <a:spcAft>
                <a:spcPts val="600"/>
              </a:spcAft>
            </a:pPr>
            <a:r>
              <a:t>So the plane is partitioned into regions: if the state falls in region R_k, the model predicts token k. Decision boundaries are linear.</a:t>
            </a:r>
          </a:p>
          <a:p>
            <a:pPr>
              <a:spcAft>
                <a:spcPts val="600"/>
              </a:spcAft>
            </a:pPr>
            <a:r>
              <a:t>Visualization: lm_head_probability_heatmaps.png, probability_heatmap_with_embeddings.png, probability_heatmap_with_values.png — heatmaps of P(next = token) over the 2D space; overlays show where each position's state lands relative to these regions.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Setup (plus_last_even config)</a:t>
            </a:r>
          </a:p>
        </p:txBody>
      </p:sp>
      <p:sp>
        <p:nvSpPr>
          <p:cNvPr id="3" name="Content Placeholder 2"/>
          <p:cNvSpPr>
            <a:spLocks noGrp="1"/>
          </p:cNvSpPr>
          <p:nvPr>
            <p:ph idx="1"/>
          </p:nvPr>
        </p:nvSpPr>
        <p:spPr/>
        <p:txBody>
          <a:bodyPr/>
          <a:lstStyle/>
          <a:p/>
          <a:p>
            <a:pPr>
              <a:spcAft>
                <a:spcPts val="600"/>
              </a:spcAft>
            </a:pPr>
            <a:r>
              <a:t>Data: PlusLastEvenRule; integers 0–10 and '+'; 2000 sequences, length 20–50; operator probability 0.3.</a:t>
            </a:r>
          </a:p>
          <a:p>
            <a:pPr>
              <a:spcAft>
                <a:spcPts val="600"/>
              </a:spcAft>
            </a:pPr>
            <a:r>
              <a:t>Model: n_embd=2, block_size=8, 1 head, head_size=2.</a:t>
            </a:r>
          </a:p>
          <a:p>
            <a:pPr>
              <a:spcAft>
                <a:spcPts val="600"/>
              </a:spcAft>
            </a:pPr>
            <a:r>
              <a:t>Training: 20k steps, batch 8, lr=0.001; checkpoints every 100 (for videos and step-wise visualization).</a:t>
            </a:r>
          </a:p>
          <a:p>
            <a:pPr>
              <a:spcAft>
                <a:spcPts val="600"/>
              </a:spcAft>
            </a:pPr>
            <a:r>
              <a:t>All figures: plus_last_even/plots/. Run: python main.py plus_last_even [--visualize | --video].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
            <a:pPr>
              <a:spcAft>
                <a:spcPts val="600"/>
              </a:spcAft>
            </a:pPr>
            <a:r>
              <a:t>Plus-last-even: after '+', output the most recent even number. The transformer implements this by: (1) representing (token, position) in ℝ², (2) aligning '+' queries with 'last even' keys so attention retrieves the right position, (3) adding that value via the residual so the state moves to the 'last even' region, (4) mapping that state to the correct token via the LM head.</a:t>
            </a:r>
          </a:p>
          <a:p>
            <a:pPr>
              <a:spcAft>
                <a:spcPts val="600"/>
              </a:spcAft>
            </a:pPr>
            <a:r>
              <a:t>By constraining to 2D, the learned geometry is the algorithm — we can read off each step from the visualizations.</a:t>
            </a:r>
          </a:p>
          <a:p>
            <a:pPr>
              <a:spcAft>
                <a:spcPts val="600"/>
              </a:spcAft>
            </a:pPr>
            <a:r>
              <a:t>This framework generalizes to other procedural rules (copy-modulo, successor, plus-max-of-two, etc.) with the same interpretability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